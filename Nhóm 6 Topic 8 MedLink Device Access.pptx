
<file path=[Content_Types].xml><?xml version="1.0" encoding="utf-8"?>
<Types xmlns="http://schemas.openxmlformats.org/package/2006/content-types">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Montserrat" panose="00000500000000000000" pitchFamily="2" charset="0"/>
      <p:regular r:id="rId14"/>
    </p:embeddedFont>
    <p:embeddedFont>
      <p:font typeface="Open Sans" panose="020B0606030504020204" pitchFamily="34" charset="0"/>
      <p:regular r:id="rId15"/>
    </p:embeddedFont>
    <p:embeddedFont>
      <p:font typeface="Open Sa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930" y="-7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svg"/><Relationship Id="rId5" Type="http://schemas.openxmlformats.org/officeDocument/2006/relationships/image" Target="../media/image2.sv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9222" b="-9222"/>
            </a:stretch>
          </a:blipFill>
        </p:spPr>
        <p:txBody>
          <a:bodyPr/>
          <a:lstStyle/>
          <a:p>
            <a:endParaRPr lang="en-US"/>
          </a:p>
        </p:txBody>
      </p:sp>
      <p:sp>
        <p:nvSpPr>
          <p:cNvPr id="3" name="Freeform 3"/>
          <p:cNvSpPr/>
          <p:nvPr/>
        </p:nvSpPr>
        <p:spPr>
          <a:xfrm>
            <a:off x="-6024954" y="-8902089"/>
            <a:ext cx="20108441" cy="16564328"/>
          </a:xfrm>
          <a:custGeom>
            <a:avLst/>
            <a:gdLst/>
            <a:ahLst/>
            <a:cxnLst/>
            <a:rect l="l" t="t" r="r" b="b"/>
            <a:pathLst>
              <a:path w="20108441" h="16564328">
                <a:moveTo>
                  <a:pt x="0" y="0"/>
                </a:moveTo>
                <a:lnTo>
                  <a:pt x="20108441" y="0"/>
                </a:lnTo>
                <a:lnTo>
                  <a:pt x="20108441" y="16564328"/>
                </a:lnTo>
                <a:lnTo>
                  <a:pt x="0" y="16564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4258733" y="603784"/>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flipH="1" flipV="1">
            <a:off x="3333604" y="4304619"/>
            <a:ext cx="20108441" cy="16564328"/>
          </a:xfrm>
          <a:custGeom>
            <a:avLst/>
            <a:gdLst/>
            <a:ahLst/>
            <a:cxnLst/>
            <a:rect l="l" t="t" r="r" b="b"/>
            <a:pathLst>
              <a:path w="20108441" h="16564328">
                <a:moveTo>
                  <a:pt x="20108440" y="16564328"/>
                </a:moveTo>
                <a:lnTo>
                  <a:pt x="0" y="16564328"/>
                </a:lnTo>
                <a:lnTo>
                  <a:pt x="0" y="0"/>
                </a:lnTo>
                <a:lnTo>
                  <a:pt x="20108440" y="0"/>
                </a:lnTo>
                <a:lnTo>
                  <a:pt x="20108440" y="16564328"/>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1545823" y="9824076"/>
            <a:ext cx="2899646" cy="925848"/>
          </a:xfrm>
          <a:custGeom>
            <a:avLst/>
            <a:gdLst/>
            <a:ahLst/>
            <a:cxnLst/>
            <a:rect l="l" t="t" r="r" b="b"/>
            <a:pathLst>
              <a:path w="2899646" h="925848">
                <a:moveTo>
                  <a:pt x="0" y="0"/>
                </a:moveTo>
                <a:lnTo>
                  <a:pt x="2899646" y="0"/>
                </a:lnTo>
                <a:lnTo>
                  <a:pt x="2899646" y="925848"/>
                </a:lnTo>
                <a:lnTo>
                  <a:pt x="0" y="92584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4029075" y="2400300"/>
            <a:ext cx="10229850" cy="1885950"/>
          </a:xfrm>
          <a:prstGeom prst="rect">
            <a:avLst/>
          </a:prstGeom>
        </p:spPr>
        <p:txBody>
          <a:bodyPr lIns="0" tIns="0" rIns="0" bIns="0" rtlCol="0" anchor="t">
            <a:spAutoFit/>
          </a:bodyPr>
          <a:lstStyle/>
          <a:p>
            <a:pPr marL="0" lvl="0" indent="0" algn="ctr">
              <a:lnSpc>
                <a:spcPts val="7463"/>
              </a:lnSpc>
              <a:spcBef>
                <a:spcPct val="0"/>
              </a:spcBef>
            </a:pPr>
            <a:r>
              <a:rPr lang="en-US" sz="6219" u="none" strike="noStrike">
                <a:solidFill>
                  <a:srgbClr val="0F5679"/>
                </a:solidFill>
                <a:latin typeface="Montserrat"/>
                <a:ea typeface="Montserrat"/>
                <a:cs typeface="Montserrat"/>
                <a:sym typeface="Montserrat"/>
              </a:rPr>
              <a:t>MEDLINK HOSPITAL</a:t>
            </a:r>
          </a:p>
          <a:p>
            <a:pPr marL="0" lvl="0" indent="0" algn="ctr">
              <a:lnSpc>
                <a:spcPts val="7463"/>
              </a:lnSpc>
              <a:spcBef>
                <a:spcPct val="0"/>
              </a:spcBef>
            </a:pPr>
            <a:r>
              <a:rPr lang="en-US" sz="6219" u="none" strike="noStrike">
                <a:solidFill>
                  <a:srgbClr val="0F5679"/>
                </a:solidFill>
                <a:latin typeface="Montserrat"/>
                <a:ea typeface="Montserrat"/>
                <a:cs typeface="Montserrat"/>
                <a:sym typeface="Montserrat"/>
              </a:rPr>
              <a:t>DEVICE ACCESS</a:t>
            </a:r>
          </a:p>
        </p:txBody>
      </p:sp>
      <p:sp>
        <p:nvSpPr>
          <p:cNvPr id="8" name="TextBox 8"/>
          <p:cNvSpPr txBox="1"/>
          <p:nvPr/>
        </p:nvSpPr>
        <p:spPr>
          <a:xfrm>
            <a:off x="3328988" y="4875596"/>
            <a:ext cx="11630025" cy="1322094"/>
          </a:xfrm>
          <a:prstGeom prst="rect">
            <a:avLst/>
          </a:prstGeom>
        </p:spPr>
        <p:txBody>
          <a:bodyPr lIns="0" tIns="0" rIns="0" bIns="0" rtlCol="0" anchor="t">
            <a:spAutoFit/>
          </a:bodyPr>
          <a:lstStyle/>
          <a:p>
            <a:pPr marL="0" lvl="0" indent="0" algn="ctr">
              <a:lnSpc>
                <a:spcPts val="5232"/>
              </a:lnSpc>
              <a:spcBef>
                <a:spcPct val="0"/>
              </a:spcBef>
            </a:pPr>
            <a:r>
              <a:rPr lang="en-US" sz="4360" u="none" strike="noStrike">
                <a:solidFill>
                  <a:srgbClr val="0376AF"/>
                </a:solidFill>
                <a:latin typeface="Montserrat"/>
                <a:ea typeface="Montserrat"/>
                <a:cs typeface="Montserrat"/>
                <a:sym typeface="Montserrat"/>
              </a:rPr>
              <a:t>TOPIC 8 – BÁO CÁO CUỐI KỲ HỌC PHẦN CƠ SỞ DỮ LIỆU</a:t>
            </a:r>
          </a:p>
        </p:txBody>
      </p:sp>
      <p:sp>
        <p:nvSpPr>
          <p:cNvPr id="9" name="TextBox 9"/>
          <p:cNvSpPr txBox="1"/>
          <p:nvPr/>
        </p:nvSpPr>
        <p:spPr>
          <a:xfrm>
            <a:off x="5100382" y="6748936"/>
            <a:ext cx="7600950" cy="2323974"/>
          </a:xfrm>
          <a:prstGeom prst="rect">
            <a:avLst/>
          </a:prstGeom>
        </p:spPr>
        <p:txBody>
          <a:bodyPr lIns="0" tIns="0" rIns="0" bIns="0" rtlCol="0" anchor="t">
            <a:spAutoFit/>
          </a:bodyPr>
          <a:lstStyle/>
          <a:p>
            <a:pPr marL="0" lvl="0" indent="0" algn="ctr">
              <a:lnSpc>
                <a:spcPts val="2631"/>
              </a:lnSpc>
              <a:spcBef>
                <a:spcPct val="0"/>
              </a:spcBef>
            </a:pPr>
            <a:r>
              <a:rPr lang="en-US" sz="1879" b="1" u="none" strike="noStrike">
                <a:solidFill>
                  <a:srgbClr val="1B2436"/>
                </a:solidFill>
                <a:latin typeface="Open Sans Bold"/>
                <a:ea typeface="Open Sans Bold"/>
                <a:cs typeface="Open Sans Bold"/>
                <a:sym typeface="Open Sans Bold"/>
              </a:rPr>
              <a:t>Nhóm 6 | Giảng viên: Vũ Đức Minh</a:t>
            </a:r>
          </a:p>
          <a:p>
            <a:pPr marL="0" lvl="0" indent="0" algn="ctr">
              <a:lnSpc>
                <a:spcPts val="2631"/>
              </a:lnSpc>
              <a:spcBef>
                <a:spcPct val="0"/>
              </a:spcBef>
            </a:pPr>
            <a:r>
              <a:rPr lang="en-US" sz="1879" b="1" u="none" strike="noStrike">
                <a:solidFill>
                  <a:srgbClr val="1B2436"/>
                </a:solidFill>
                <a:latin typeface="Open Sans Bold"/>
                <a:ea typeface="Open Sans Bold"/>
                <a:cs typeface="Open Sans Bold"/>
                <a:sym typeface="Open Sans Bold"/>
              </a:rPr>
              <a:t>Lớp: Cơ sở dữ liệu - ISV201604 | Năm học 2025-2026</a:t>
            </a:r>
          </a:p>
          <a:p>
            <a:pPr marL="0" lvl="0" indent="0" algn="ctr">
              <a:lnSpc>
                <a:spcPts val="2631"/>
              </a:lnSpc>
              <a:spcBef>
                <a:spcPct val="0"/>
              </a:spcBef>
            </a:pPr>
            <a:r>
              <a:rPr lang="en-US" sz="1879" b="1" u="none" strike="noStrike">
                <a:solidFill>
                  <a:srgbClr val="1B2436"/>
                </a:solidFill>
                <a:latin typeface="Open Sans Bold"/>
                <a:ea typeface="Open Sans Bold"/>
                <a:cs typeface="Open Sans Bold"/>
                <a:sym typeface="Open Sans Bold"/>
              </a:rPr>
              <a:t>Thành viên: </a:t>
            </a:r>
          </a:p>
          <a:p>
            <a:pPr marL="0" lvl="0" indent="0" algn="ctr">
              <a:lnSpc>
                <a:spcPts val="2631"/>
              </a:lnSpc>
              <a:spcBef>
                <a:spcPct val="0"/>
              </a:spcBef>
            </a:pPr>
            <a:r>
              <a:rPr lang="en-US" sz="1879" b="1" u="none" strike="noStrike">
                <a:solidFill>
                  <a:srgbClr val="1B2436"/>
                </a:solidFill>
                <a:latin typeface="Open Sans Bold"/>
                <a:ea typeface="Open Sans Bold"/>
                <a:cs typeface="Open Sans Bold"/>
                <a:sym typeface="Open Sans Bold"/>
              </a:rPr>
              <a:t>Trần Đức Minh</a:t>
            </a:r>
          </a:p>
          <a:p>
            <a:pPr marL="0" lvl="0" indent="0" algn="ctr">
              <a:lnSpc>
                <a:spcPts val="2631"/>
              </a:lnSpc>
              <a:spcBef>
                <a:spcPct val="0"/>
              </a:spcBef>
            </a:pPr>
            <a:r>
              <a:rPr lang="en-US" sz="1879" b="1" u="none" strike="noStrike">
                <a:solidFill>
                  <a:srgbClr val="1B2436"/>
                </a:solidFill>
                <a:latin typeface="Open Sans Bold"/>
                <a:ea typeface="Open Sans Bold"/>
                <a:cs typeface="Open Sans Bold"/>
                <a:sym typeface="Open Sans Bold"/>
              </a:rPr>
              <a:t>Nguyễn Hải Long </a:t>
            </a:r>
          </a:p>
          <a:p>
            <a:pPr marL="0" lvl="0" indent="0" algn="ctr">
              <a:lnSpc>
                <a:spcPts val="2631"/>
              </a:lnSpc>
              <a:spcBef>
                <a:spcPct val="0"/>
              </a:spcBef>
            </a:pPr>
            <a:r>
              <a:rPr lang="en-US" sz="1879" b="1" u="none" strike="noStrike">
                <a:solidFill>
                  <a:srgbClr val="1B2436"/>
                </a:solidFill>
                <a:latin typeface="Open Sans Bold"/>
                <a:ea typeface="Open Sans Bold"/>
                <a:cs typeface="Open Sans Bold"/>
                <a:sym typeface="Open Sans Bold"/>
              </a:rPr>
              <a:t>Đỗ Thị Kiều Oanh </a:t>
            </a:r>
          </a:p>
          <a:p>
            <a:pPr marL="0" lvl="0" indent="0" algn="ctr">
              <a:lnSpc>
                <a:spcPts val="2631"/>
              </a:lnSpc>
              <a:spcBef>
                <a:spcPct val="0"/>
              </a:spcBef>
            </a:pPr>
            <a:r>
              <a:rPr lang="en-US" sz="1879" b="1" u="none" strike="noStrike">
                <a:solidFill>
                  <a:srgbClr val="1B2436"/>
                </a:solidFill>
                <a:latin typeface="Open Sans Bold"/>
                <a:ea typeface="Open Sans Bold"/>
                <a:cs typeface="Open Sans Bold"/>
                <a:sym typeface="Open Sans Bold"/>
              </a:rPr>
              <a:t>Trần Thị Lương Thiện</a:t>
            </a:r>
          </a:p>
        </p:txBody>
      </p:sp>
      <p:pic>
        <p:nvPicPr>
          <p:cNvPr id="14" name="Audio 13">
            <a:hlinkClick r:id="" action="ppaction://media"/>
            <a:extLst>
              <a:ext uri="{FF2B5EF4-FFF2-40B4-BE49-F238E27FC236}">
                <a16:creationId xmlns:a16="http://schemas.microsoft.com/office/drawing/2014/main" id="{2C56FA08-3EF1-C4AD-E413-46C1F226C7C8}"/>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456250" t="-456250" r="-456250" b="-456250"/>
          <a:stretch>
            <a:fillRect/>
          </a:stretch>
        </p:blipFill>
        <p:spPr>
          <a:xfrm>
            <a:off x="15078456" y="7077456"/>
            <a:ext cx="3086100" cy="30861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8269"/>
    </mc:Choice>
    <mc:Fallback xmlns="">
      <p:transition spd="slow" advTm="82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910220" y="7059738"/>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grpSp>
        <p:nvGrpSpPr>
          <p:cNvPr id="4" name="Group 4"/>
          <p:cNvGrpSpPr/>
          <p:nvPr/>
        </p:nvGrpSpPr>
        <p:grpSpPr>
          <a:xfrm>
            <a:off x="12231762" y="3325639"/>
            <a:ext cx="4194324" cy="5932661"/>
            <a:chOff x="0" y="0"/>
            <a:chExt cx="1393885" cy="1971580"/>
          </a:xfrm>
        </p:grpSpPr>
        <p:sp>
          <p:nvSpPr>
            <p:cNvPr id="5" name="Freeform 5"/>
            <p:cNvSpPr/>
            <p:nvPr/>
          </p:nvSpPr>
          <p:spPr>
            <a:xfrm>
              <a:off x="0" y="0"/>
              <a:ext cx="1393885" cy="1971580"/>
            </a:xfrm>
            <a:custGeom>
              <a:avLst/>
              <a:gdLst/>
              <a:ahLst/>
              <a:cxnLst/>
              <a:rect l="l" t="t" r="r" b="b"/>
              <a:pathLst>
                <a:path w="1393885" h="1971580">
                  <a:moveTo>
                    <a:pt x="0" y="0"/>
                  </a:moveTo>
                  <a:lnTo>
                    <a:pt x="1393885" y="0"/>
                  </a:lnTo>
                  <a:lnTo>
                    <a:pt x="1393885" y="1971580"/>
                  </a:lnTo>
                  <a:lnTo>
                    <a:pt x="0" y="1971580"/>
                  </a:lnTo>
                  <a:close/>
                </a:path>
              </a:pathLst>
            </a:custGeom>
            <a:solidFill>
              <a:srgbClr val="0F5679"/>
            </a:solidFill>
            <a:ln w="95250" cap="sq">
              <a:solidFill>
                <a:srgbClr val="FFFFFF"/>
              </a:solidFill>
              <a:prstDash val="solid"/>
              <a:miter/>
            </a:ln>
          </p:spPr>
          <p:txBody>
            <a:bodyPr/>
            <a:lstStyle/>
            <a:p>
              <a:endParaRPr lang="en-US"/>
            </a:p>
          </p:txBody>
        </p:sp>
        <p:sp>
          <p:nvSpPr>
            <p:cNvPr id="6" name="TextBox 6"/>
            <p:cNvSpPr txBox="1"/>
            <p:nvPr/>
          </p:nvSpPr>
          <p:spPr>
            <a:xfrm>
              <a:off x="0" y="-38100"/>
              <a:ext cx="1393885" cy="2009680"/>
            </a:xfrm>
            <a:prstGeom prst="rect">
              <a:avLst/>
            </a:prstGeom>
          </p:spPr>
          <p:txBody>
            <a:bodyPr lIns="50800" tIns="50800" rIns="50800" bIns="50800" rtlCol="0" anchor="ctr"/>
            <a:lstStyle/>
            <a:p>
              <a:pPr marL="0" lvl="0" indent="0" algn="ctr">
                <a:lnSpc>
                  <a:spcPts val="3384"/>
                </a:lnSpc>
              </a:pPr>
              <a:endParaRPr/>
            </a:p>
          </p:txBody>
        </p:sp>
      </p:grpSp>
      <p:grpSp>
        <p:nvGrpSpPr>
          <p:cNvPr id="7" name="Group 7"/>
          <p:cNvGrpSpPr/>
          <p:nvPr/>
        </p:nvGrpSpPr>
        <p:grpSpPr>
          <a:xfrm>
            <a:off x="12870615" y="2868632"/>
            <a:ext cx="2857666" cy="2632257"/>
            <a:chOff x="0" y="0"/>
            <a:chExt cx="812800" cy="748687"/>
          </a:xfrm>
        </p:grpSpPr>
        <p:sp>
          <p:nvSpPr>
            <p:cNvPr id="8" name="Freeform 8"/>
            <p:cNvSpPr/>
            <p:nvPr/>
          </p:nvSpPr>
          <p:spPr>
            <a:xfrm>
              <a:off x="0" y="0"/>
              <a:ext cx="812800" cy="748687"/>
            </a:xfrm>
            <a:custGeom>
              <a:avLst/>
              <a:gdLst/>
              <a:ahLst/>
              <a:cxnLst/>
              <a:rect l="l" t="t" r="r" b="b"/>
              <a:pathLst>
                <a:path w="812800" h="748687">
                  <a:moveTo>
                    <a:pt x="574675" y="0"/>
                  </a:moveTo>
                  <a:lnTo>
                    <a:pt x="812800" y="238125"/>
                  </a:lnTo>
                  <a:lnTo>
                    <a:pt x="812800" y="510562"/>
                  </a:lnTo>
                  <a:lnTo>
                    <a:pt x="574675" y="748687"/>
                  </a:lnTo>
                  <a:lnTo>
                    <a:pt x="238125" y="748687"/>
                  </a:lnTo>
                  <a:lnTo>
                    <a:pt x="0" y="510562"/>
                  </a:lnTo>
                  <a:lnTo>
                    <a:pt x="0" y="238125"/>
                  </a:lnTo>
                  <a:lnTo>
                    <a:pt x="238125" y="0"/>
                  </a:lnTo>
                  <a:lnTo>
                    <a:pt x="574675" y="0"/>
                  </a:lnTo>
                  <a:close/>
                </a:path>
              </a:pathLst>
            </a:custGeom>
            <a:solidFill>
              <a:srgbClr val="0F5679"/>
            </a:solidFill>
            <a:ln w="95250" cap="sq">
              <a:solidFill>
                <a:srgbClr val="FFFFFF"/>
              </a:solidFill>
              <a:prstDash val="solid"/>
              <a:miter/>
            </a:ln>
          </p:spPr>
          <p:txBody>
            <a:bodyPr/>
            <a:lstStyle/>
            <a:p>
              <a:endParaRPr lang="en-US"/>
            </a:p>
          </p:txBody>
        </p:sp>
        <p:sp>
          <p:nvSpPr>
            <p:cNvPr id="9" name="TextBox 9"/>
            <p:cNvSpPr txBox="1"/>
            <p:nvPr/>
          </p:nvSpPr>
          <p:spPr>
            <a:xfrm>
              <a:off x="63500" y="25400"/>
              <a:ext cx="685800" cy="659787"/>
            </a:xfrm>
            <a:prstGeom prst="rect">
              <a:avLst/>
            </a:prstGeom>
          </p:spPr>
          <p:txBody>
            <a:bodyPr lIns="50800" tIns="50800" rIns="50800" bIns="50800" rtlCol="0" anchor="ctr"/>
            <a:lstStyle/>
            <a:p>
              <a:pPr marL="0" lvl="0" indent="0" algn="ctr">
                <a:lnSpc>
                  <a:spcPts val="3384"/>
                </a:lnSpc>
              </a:pPr>
              <a:endParaRPr/>
            </a:p>
          </p:txBody>
        </p:sp>
      </p:grpSp>
      <p:sp>
        <p:nvSpPr>
          <p:cNvPr id="10" name="TextBox 10"/>
          <p:cNvSpPr txBox="1"/>
          <p:nvPr/>
        </p:nvSpPr>
        <p:spPr>
          <a:xfrm>
            <a:off x="12592050" y="5838825"/>
            <a:ext cx="3419475" cy="2305304"/>
          </a:xfrm>
          <a:prstGeom prst="rect">
            <a:avLst/>
          </a:prstGeom>
        </p:spPr>
        <p:txBody>
          <a:bodyPr lIns="0" tIns="0" rIns="0" bIns="0" rtlCol="0" anchor="t">
            <a:spAutoFit/>
          </a:bodyPr>
          <a:lstStyle/>
          <a:p>
            <a:pPr marL="0" lvl="0" indent="0" algn="just">
              <a:lnSpc>
                <a:spcPts val="2086"/>
              </a:lnSpc>
              <a:spcBef>
                <a:spcPct val="0"/>
              </a:spcBef>
            </a:pPr>
            <a:r>
              <a:rPr lang="en-US" sz="1490" u="none" strike="noStrike">
                <a:solidFill>
                  <a:srgbClr val="FFFFFF"/>
                </a:solidFill>
                <a:latin typeface="Open Sans"/>
                <a:ea typeface="Open Sans"/>
                <a:cs typeface="Open Sans"/>
                <a:sym typeface="Open Sans"/>
              </a:rPr>
              <a:t>Đảm bảo an toàn thông tin và truy vết đầy đủ mọi hoạt động cấp/thu hồi quyền.</a:t>
            </a:r>
          </a:p>
          <a:p>
            <a:pPr marL="0" lvl="0" indent="0" algn="just">
              <a:lnSpc>
                <a:spcPts val="2086"/>
              </a:lnSpc>
              <a:spcBef>
                <a:spcPct val="0"/>
              </a:spcBef>
            </a:pPr>
            <a:r>
              <a:rPr lang="en-US" sz="1490" u="none" strike="noStrike">
                <a:solidFill>
                  <a:srgbClr val="FFFFFF"/>
                </a:solidFill>
                <a:latin typeface="Open Sans"/>
                <a:ea typeface="Open Sans"/>
                <a:cs typeface="Open Sans"/>
                <a:sym typeface="Open Sans"/>
              </a:rPr>
              <a:t>• Thiết bị di động phải bật screen lock và mã hóa dữ liệu mới được cấp quyền</a:t>
            </a:r>
          </a:p>
          <a:p>
            <a:pPr marL="0" lvl="0" indent="0" algn="just">
              <a:lnSpc>
                <a:spcPts val="2086"/>
              </a:lnSpc>
              <a:spcBef>
                <a:spcPct val="0"/>
              </a:spcBef>
            </a:pPr>
            <a:r>
              <a:rPr lang="en-US" sz="1490" u="none" strike="noStrike">
                <a:solidFill>
                  <a:srgbClr val="FFFFFF"/>
                </a:solidFill>
                <a:latin typeface="Open Sans"/>
                <a:ea typeface="Open Sans"/>
                <a:cs typeface="Open Sans"/>
                <a:sym typeface="Open Sans"/>
              </a:rPr>
              <a:t>• Ghi nhận audit log tự động khi cấp hoặc thu hồi quyền truy cập</a:t>
            </a:r>
          </a:p>
          <a:p>
            <a:pPr marL="0" lvl="0" indent="0" algn="just">
              <a:lnSpc>
                <a:spcPts val="2086"/>
              </a:lnSpc>
              <a:spcBef>
                <a:spcPct val="0"/>
              </a:spcBef>
            </a:pPr>
            <a:r>
              <a:rPr lang="en-US" sz="1490" u="none" strike="noStrike">
                <a:solidFill>
                  <a:srgbClr val="FFFFFF"/>
                </a:solidFill>
                <a:latin typeface="Open Sans"/>
                <a:ea typeface="Open Sans"/>
                <a:cs typeface="Open Sans"/>
                <a:sym typeface="Open Sans"/>
              </a:rPr>
              <a:t>• Hỗ trợ truy vết và kiểm toán hoạt động hệ thống</a:t>
            </a:r>
          </a:p>
        </p:txBody>
      </p:sp>
      <p:sp>
        <p:nvSpPr>
          <p:cNvPr id="11" name="TextBox 11"/>
          <p:cNvSpPr txBox="1"/>
          <p:nvPr/>
        </p:nvSpPr>
        <p:spPr>
          <a:xfrm>
            <a:off x="13506450" y="3790950"/>
            <a:ext cx="1590675" cy="773020"/>
          </a:xfrm>
          <a:prstGeom prst="rect">
            <a:avLst/>
          </a:prstGeom>
        </p:spPr>
        <p:txBody>
          <a:bodyPr lIns="0" tIns="0" rIns="0" bIns="0" rtlCol="0" anchor="t">
            <a:spAutoFit/>
          </a:bodyPr>
          <a:lstStyle/>
          <a:p>
            <a:pPr marL="0" lvl="0" indent="0" algn="ctr">
              <a:lnSpc>
                <a:spcPts val="3083"/>
              </a:lnSpc>
              <a:spcBef>
                <a:spcPct val="0"/>
              </a:spcBef>
            </a:pPr>
            <a:r>
              <a:rPr lang="en-US" sz="2390" u="none" strike="noStrike">
                <a:solidFill>
                  <a:srgbClr val="FFFFFF"/>
                </a:solidFill>
                <a:latin typeface="Montserrat"/>
                <a:ea typeface="Montserrat"/>
                <a:cs typeface="Montserrat"/>
                <a:sym typeface="Montserrat"/>
              </a:rPr>
              <a:t>Bảo mật &amp; Audit Log</a:t>
            </a:r>
          </a:p>
        </p:txBody>
      </p:sp>
      <p:sp>
        <p:nvSpPr>
          <p:cNvPr id="12" name="Freeform 12"/>
          <p:cNvSpPr/>
          <p:nvPr/>
        </p:nvSpPr>
        <p:spPr>
          <a:xfrm>
            <a:off x="-4844112" y="-7095921"/>
            <a:ext cx="14226186" cy="11718820"/>
          </a:xfrm>
          <a:custGeom>
            <a:avLst/>
            <a:gdLst/>
            <a:ahLst/>
            <a:cxnLst/>
            <a:rect l="l" t="t" r="r" b="b"/>
            <a:pathLst>
              <a:path w="14226186" h="11718820">
                <a:moveTo>
                  <a:pt x="0" y="0"/>
                </a:moveTo>
                <a:lnTo>
                  <a:pt x="14226185" y="0"/>
                </a:lnTo>
                <a:lnTo>
                  <a:pt x="14226185" y="11718821"/>
                </a:lnTo>
                <a:lnTo>
                  <a:pt x="0" y="1171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5347702" y="-424916"/>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Freeform 14"/>
          <p:cNvSpPr/>
          <p:nvPr/>
        </p:nvSpPr>
        <p:spPr>
          <a:xfrm>
            <a:off x="1862705" y="9728851"/>
            <a:ext cx="2899646" cy="925848"/>
          </a:xfrm>
          <a:custGeom>
            <a:avLst/>
            <a:gdLst/>
            <a:ahLst/>
            <a:cxnLst/>
            <a:rect l="l" t="t" r="r" b="b"/>
            <a:pathLst>
              <a:path w="2899646" h="925848">
                <a:moveTo>
                  <a:pt x="0" y="0"/>
                </a:moveTo>
                <a:lnTo>
                  <a:pt x="2899647" y="0"/>
                </a:lnTo>
                <a:lnTo>
                  <a:pt x="2899647" y="925848"/>
                </a:lnTo>
                <a:lnTo>
                  <a:pt x="0" y="9258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5" name="Group 15"/>
          <p:cNvGrpSpPr/>
          <p:nvPr/>
        </p:nvGrpSpPr>
        <p:grpSpPr>
          <a:xfrm>
            <a:off x="6084102" y="800505"/>
            <a:ext cx="6119796" cy="1730191"/>
            <a:chOff x="0" y="0"/>
            <a:chExt cx="1890287" cy="474604"/>
          </a:xfrm>
        </p:grpSpPr>
        <p:sp>
          <p:nvSpPr>
            <p:cNvPr id="16" name="Freeform 16"/>
            <p:cNvSpPr/>
            <p:nvPr/>
          </p:nvSpPr>
          <p:spPr>
            <a:xfrm>
              <a:off x="0" y="0"/>
              <a:ext cx="1890287" cy="474604"/>
            </a:xfrm>
            <a:custGeom>
              <a:avLst/>
              <a:gdLst/>
              <a:ahLst/>
              <a:cxnLst/>
              <a:rect l="l" t="t" r="r" b="b"/>
              <a:pathLst>
                <a:path w="1890287" h="474604">
                  <a:moveTo>
                    <a:pt x="0" y="0"/>
                  </a:moveTo>
                  <a:lnTo>
                    <a:pt x="1890287" y="0"/>
                  </a:lnTo>
                  <a:lnTo>
                    <a:pt x="1890287"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17" name="TextBox 17"/>
            <p:cNvSpPr txBox="1"/>
            <p:nvPr/>
          </p:nvSpPr>
          <p:spPr>
            <a:xfrm>
              <a:off x="0" y="-38100"/>
              <a:ext cx="1890287" cy="512704"/>
            </a:xfrm>
            <a:prstGeom prst="rect">
              <a:avLst/>
            </a:prstGeom>
          </p:spPr>
          <p:txBody>
            <a:bodyPr lIns="50800" tIns="50800" rIns="50800" bIns="50800" rtlCol="0" anchor="ctr"/>
            <a:lstStyle/>
            <a:p>
              <a:pPr marL="0" lvl="0" indent="0" algn="ctr">
                <a:lnSpc>
                  <a:spcPts val="3384"/>
                </a:lnSpc>
              </a:pPr>
              <a:endParaRPr/>
            </a:p>
          </p:txBody>
        </p:sp>
      </p:grpSp>
      <p:grpSp>
        <p:nvGrpSpPr>
          <p:cNvPr id="18" name="Group 18"/>
          <p:cNvGrpSpPr/>
          <p:nvPr/>
        </p:nvGrpSpPr>
        <p:grpSpPr>
          <a:xfrm>
            <a:off x="1862705" y="3325639"/>
            <a:ext cx="4194324" cy="5932661"/>
            <a:chOff x="0" y="0"/>
            <a:chExt cx="1393885" cy="1971580"/>
          </a:xfrm>
        </p:grpSpPr>
        <p:sp>
          <p:nvSpPr>
            <p:cNvPr id="19" name="Freeform 19"/>
            <p:cNvSpPr/>
            <p:nvPr/>
          </p:nvSpPr>
          <p:spPr>
            <a:xfrm>
              <a:off x="0" y="0"/>
              <a:ext cx="1393885" cy="1971580"/>
            </a:xfrm>
            <a:custGeom>
              <a:avLst/>
              <a:gdLst/>
              <a:ahLst/>
              <a:cxnLst/>
              <a:rect l="l" t="t" r="r" b="b"/>
              <a:pathLst>
                <a:path w="1393885" h="1971580">
                  <a:moveTo>
                    <a:pt x="0" y="0"/>
                  </a:moveTo>
                  <a:lnTo>
                    <a:pt x="1393885" y="0"/>
                  </a:lnTo>
                  <a:lnTo>
                    <a:pt x="1393885" y="1971580"/>
                  </a:lnTo>
                  <a:lnTo>
                    <a:pt x="0" y="1971580"/>
                  </a:lnTo>
                  <a:close/>
                </a:path>
              </a:pathLst>
            </a:custGeom>
            <a:solidFill>
              <a:srgbClr val="0F5679"/>
            </a:solidFill>
            <a:ln w="95250" cap="sq">
              <a:solidFill>
                <a:srgbClr val="FFFFFF"/>
              </a:solidFill>
              <a:prstDash val="solid"/>
              <a:miter/>
            </a:ln>
          </p:spPr>
          <p:txBody>
            <a:bodyPr/>
            <a:lstStyle/>
            <a:p>
              <a:endParaRPr lang="en-US"/>
            </a:p>
          </p:txBody>
        </p:sp>
        <p:sp>
          <p:nvSpPr>
            <p:cNvPr id="20" name="TextBox 20"/>
            <p:cNvSpPr txBox="1"/>
            <p:nvPr/>
          </p:nvSpPr>
          <p:spPr>
            <a:xfrm>
              <a:off x="0" y="-38100"/>
              <a:ext cx="1393885" cy="2009680"/>
            </a:xfrm>
            <a:prstGeom prst="rect">
              <a:avLst/>
            </a:prstGeom>
          </p:spPr>
          <p:txBody>
            <a:bodyPr lIns="50800" tIns="50800" rIns="50800" bIns="50800" rtlCol="0" anchor="ctr"/>
            <a:lstStyle/>
            <a:p>
              <a:pPr marL="0" lvl="0" indent="0" algn="ctr">
                <a:lnSpc>
                  <a:spcPts val="3384"/>
                </a:lnSpc>
              </a:pPr>
              <a:endParaRPr/>
            </a:p>
          </p:txBody>
        </p:sp>
      </p:grpSp>
      <p:grpSp>
        <p:nvGrpSpPr>
          <p:cNvPr id="21" name="Group 21"/>
          <p:cNvGrpSpPr/>
          <p:nvPr/>
        </p:nvGrpSpPr>
        <p:grpSpPr>
          <a:xfrm>
            <a:off x="7046838" y="3325639"/>
            <a:ext cx="4194324" cy="5932661"/>
            <a:chOff x="0" y="0"/>
            <a:chExt cx="1393885" cy="1971580"/>
          </a:xfrm>
        </p:grpSpPr>
        <p:sp>
          <p:nvSpPr>
            <p:cNvPr id="22" name="Freeform 22"/>
            <p:cNvSpPr/>
            <p:nvPr/>
          </p:nvSpPr>
          <p:spPr>
            <a:xfrm>
              <a:off x="0" y="0"/>
              <a:ext cx="1393885" cy="1971580"/>
            </a:xfrm>
            <a:custGeom>
              <a:avLst/>
              <a:gdLst/>
              <a:ahLst/>
              <a:cxnLst/>
              <a:rect l="l" t="t" r="r" b="b"/>
              <a:pathLst>
                <a:path w="1393885" h="1971580">
                  <a:moveTo>
                    <a:pt x="0" y="0"/>
                  </a:moveTo>
                  <a:lnTo>
                    <a:pt x="1393885" y="0"/>
                  </a:lnTo>
                  <a:lnTo>
                    <a:pt x="1393885" y="1971580"/>
                  </a:lnTo>
                  <a:lnTo>
                    <a:pt x="0" y="1971580"/>
                  </a:lnTo>
                  <a:close/>
                </a:path>
              </a:pathLst>
            </a:custGeom>
            <a:solidFill>
              <a:srgbClr val="0F5679"/>
            </a:solidFill>
            <a:ln w="95250" cap="sq">
              <a:solidFill>
                <a:srgbClr val="FFFFFF"/>
              </a:solidFill>
              <a:prstDash val="solid"/>
              <a:miter/>
            </a:ln>
          </p:spPr>
          <p:txBody>
            <a:bodyPr/>
            <a:lstStyle/>
            <a:p>
              <a:endParaRPr lang="en-US"/>
            </a:p>
          </p:txBody>
        </p:sp>
        <p:sp>
          <p:nvSpPr>
            <p:cNvPr id="23" name="TextBox 23"/>
            <p:cNvSpPr txBox="1"/>
            <p:nvPr/>
          </p:nvSpPr>
          <p:spPr>
            <a:xfrm>
              <a:off x="0" y="-38100"/>
              <a:ext cx="1393885" cy="2009680"/>
            </a:xfrm>
            <a:prstGeom prst="rect">
              <a:avLst/>
            </a:prstGeom>
          </p:spPr>
          <p:txBody>
            <a:bodyPr lIns="50800" tIns="50800" rIns="50800" bIns="50800" rtlCol="0" anchor="ctr"/>
            <a:lstStyle/>
            <a:p>
              <a:pPr marL="0" lvl="0" indent="0" algn="ctr">
                <a:lnSpc>
                  <a:spcPts val="3384"/>
                </a:lnSpc>
              </a:pPr>
              <a:endParaRPr/>
            </a:p>
          </p:txBody>
        </p:sp>
      </p:grpSp>
      <p:grpSp>
        <p:nvGrpSpPr>
          <p:cNvPr id="24" name="Group 24"/>
          <p:cNvGrpSpPr/>
          <p:nvPr/>
        </p:nvGrpSpPr>
        <p:grpSpPr>
          <a:xfrm>
            <a:off x="2501558" y="2868632"/>
            <a:ext cx="2857666" cy="2632257"/>
            <a:chOff x="0" y="0"/>
            <a:chExt cx="812800" cy="748687"/>
          </a:xfrm>
        </p:grpSpPr>
        <p:sp>
          <p:nvSpPr>
            <p:cNvPr id="25" name="Freeform 25"/>
            <p:cNvSpPr/>
            <p:nvPr/>
          </p:nvSpPr>
          <p:spPr>
            <a:xfrm>
              <a:off x="0" y="0"/>
              <a:ext cx="812800" cy="748687"/>
            </a:xfrm>
            <a:custGeom>
              <a:avLst/>
              <a:gdLst/>
              <a:ahLst/>
              <a:cxnLst/>
              <a:rect l="l" t="t" r="r" b="b"/>
              <a:pathLst>
                <a:path w="812800" h="748687">
                  <a:moveTo>
                    <a:pt x="574675" y="0"/>
                  </a:moveTo>
                  <a:lnTo>
                    <a:pt x="812800" y="238125"/>
                  </a:lnTo>
                  <a:lnTo>
                    <a:pt x="812800" y="510562"/>
                  </a:lnTo>
                  <a:lnTo>
                    <a:pt x="574675" y="748687"/>
                  </a:lnTo>
                  <a:lnTo>
                    <a:pt x="238125" y="748687"/>
                  </a:lnTo>
                  <a:lnTo>
                    <a:pt x="0" y="510562"/>
                  </a:lnTo>
                  <a:lnTo>
                    <a:pt x="0" y="238125"/>
                  </a:lnTo>
                  <a:lnTo>
                    <a:pt x="238125" y="0"/>
                  </a:lnTo>
                  <a:lnTo>
                    <a:pt x="574675" y="0"/>
                  </a:lnTo>
                  <a:close/>
                </a:path>
              </a:pathLst>
            </a:custGeom>
            <a:solidFill>
              <a:srgbClr val="0F5679"/>
            </a:solidFill>
            <a:ln w="95250" cap="sq">
              <a:solidFill>
                <a:srgbClr val="FFFFFF"/>
              </a:solidFill>
              <a:prstDash val="solid"/>
              <a:miter/>
            </a:ln>
          </p:spPr>
          <p:txBody>
            <a:bodyPr/>
            <a:lstStyle/>
            <a:p>
              <a:endParaRPr lang="en-US"/>
            </a:p>
          </p:txBody>
        </p:sp>
        <p:sp>
          <p:nvSpPr>
            <p:cNvPr id="26" name="TextBox 26"/>
            <p:cNvSpPr txBox="1"/>
            <p:nvPr/>
          </p:nvSpPr>
          <p:spPr>
            <a:xfrm>
              <a:off x="63500" y="25400"/>
              <a:ext cx="685800" cy="659787"/>
            </a:xfrm>
            <a:prstGeom prst="rect">
              <a:avLst/>
            </a:prstGeom>
          </p:spPr>
          <p:txBody>
            <a:bodyPr lIns="50800" tIns="50800" rIns="50800" bIns="50800" rtlCol="0" anchor="ctr"/>
            <a:lstStyle/>
            <a:p>
              <a:pPr marL="0" lvl="0" indent="0" algn="ctr">
                <a:lnSpc>
                  <a:spcPts val="3384"/>
                </a:lnSpc>
              </a:pPr>
              <a:endParaRPr/>
            </a:p>
          </p:txBody>
        </p:sp>
      </p:grpSp>
      <p:grpSp>
        <p:nvGrpSpPr>
          <p:cNvPr id="27" name="Group 27"/>
          <p:cNvGrpSpPr/>
          <p:nvPr/>
        </p:nvGrpSpPr>
        <p:grpSpPr>
          <a:xfrm>
            <a:off x="7553625" y="2868632"/>
            <a:ext cx="3154814" cy="2632257"/>
            <a:chOff x="0" y="0"/>
            <a:chExt cx="897317" cy="748687"/>
          </a:xfrm>
        </p:grpSpPr>
        <p:sp>
          <p:nvSpPr>
            <p:cNvPr id="28" name="Freeform 28"/>
            <p:cNvSpPr/>
            <p:nvPr/>
          </p:nvSpPr>
          <p:spPr>
            <a:xfrm>
              <a:off x="0" y="0"/>
              <a:ext cx="897317" cy="748687"/>
            </a:xfrm>
            <a:custGeom>
              <a:avLst/>
              <a:gdLst/>
              <a:ahLst/>
              <a:cxnLst/>
              <a:rect l="l" t="t" r="r" b="b"/>
              <a:pathLst>
                <a:path w="897317" h="748687">
                  <a:moveTo>
                    <a:pt x="659192" y="0"/>
                  </a:moveTo>
                  <a:lnTo>
                    <a:pt x="897317" y="238125"/>
                  </a:lnTo>
                  <a:lnTo>
                    <a:pt x="897317" y="510562"/>
                  </a:lnTo>
                  <a:lnTo>
                    <a:pt x="659192" y="748687"/>
                  </a:lnTo>
                  <a:lnTo>
                    <a:pt x="238125" y="748687"/>
                  </a:lnTo>
                  <a:lnTo>
                    <a:pt x="0" y="510562"/>
                  </a:lnTo>
                  <a:lnTo>
                    <a:pt x="0" y="238125"/>
                  </a:lnTo>
                  <a:lnTo>
                    <a:pt x="238125" y="0"/>
                  </a:lnTo>
                  <a:lnTo>
                    <a:pt x="659192" y="0"/>
                  </a:lnTo>
                  <a:close/>
                </a:path>
              </a:pathLst>
            </a:custGeom>
            <a:solidFill>
              <a:srgbClr val="0F5679"/>
            </a:solidFill>
            <a:ln w="95250" cap="sq">
              <a:solidFill>
                <a:srgbClr val="FFFFFF"/>
              </a:solidFill>
              <a:prstDash val="solid"/>
              <a:miter/>
            </a:ln>
          </p:spPr>
          <p:txBody>
            <a:bodyPr/>
            <a:lstStyle/>
            <a:p>
              <a:endParaRPr lang="en-US"/>
            </a:p>
          </p:txBody>
        </p:sp>
        <p:sp>
          <p:nvSpPr>
            <p:cNvPr id="29" name="TextBox 29"/>
            <p:cNvSpPr txBox="1"/>
            <p:nvPr/>
          </p:nvSpPr>
          <p:spPr>
            <a:xfrm>
              <a:off x="63500" y="25400"/>
              <a:ext cx="770317" cy="659787"/>
            </a:xfrm>
            <a:prstGeom prst="rect">
              <a:avLst/>
            </a:prstGeom>
          </p:spPr>
          <p:txBody>
            <a:bodyPr lIns="50800" tIns="50800" rIns="50800" bIns="50800" rtlCol="0" anchor="ctr"/>
            <a:lstStyle/>
            <a:p>
              <a:pPr marL="0" lvl="0" indent="0" algn="ctr">
                <a:lnSpc>
                  <a:spcPts val="3384"/>
                </a:lnSpc>
              </a:pPr>
              <a:endParaRPr/>
            </a:p>
          </p:txBody>
        </p:sp>
      </p:grpSp>
      <p:sp>
        <p:nvSpPr>
          <p:cNvPr id="30" name="TextBox 30"/>
          <p:cNvSpPr txBox="1"/>
          <p:nvPr/>
        </p:nvSpPr>
        <p:spPr>
          <a:xfrm>
            <a:off x="6267450" y="1209675"/>
            <a:ext cx="5762625" cy="621717"/>
          </a:xfrm>
          <a:prstGeom prst="rect">
            <a:avLst/>
          </a:prstGeom>
        </p:spPr>
        <p:txBody>
          <a:bodyPr lIns="0" tIns="0" rIns="0" bIns="0" rtlCol="0" anchor="t">
            <a:spAutoFit/>
          </a:bodyPr>
          <a:lstStyle/>
          <a:p>
            <a:pPr marL="0" lvl="0" indent="0" algn="ctr">
              <a:lnSpc>
                <a:spcPts val="4921"/>
              </a:lnSpc>
              <a:spcBef>
                <a:spcPct val="0"/>
              </a:spcBef>
            </a:pPr>
            <a:r>
              <a:rPr lang="en-US" sz="4101" u="none" strike="noStrike" dirty="0">
                <a:solidFill>
                  <a:srgbClr val="FFFFFF"/>
                </a:solidFill>
                <a:latin typeface="Montserrat"/>
                <a:ea typeface="Montserrat"/>
                <a:cs typeface="Montserrat"/>
                <a:sym typeface="Montserrat"/>
              </a:rPr>
              <a:t>BÀI TOÁN NGHIỆP VỤ</a:t>
            </a:r>
          </a:p>
        </p:txBody>
      </p:sp>
      <p:sp>
        <p:nvSpPr>
          <p:cNvPr id="31" name="TextBox 31"/>
          <p:cNvSpPr txBox="1"/>
          <p:nvPr/>
        </p:nvSpPr>
        <p:spPr>
          <a:xfrm>
            <a:off x="2219325" y="5838825"/>
            <a:ext cx="3419475" cy="2390521"/>
          </a:xfrm>
          <a:prstGeom prst="rect">
            <a:avLst/>
          </a:prstGeom>
        </p:spPr>
        <p:txBody>
          <a:bodyPr lIns="0" tIns="0" rIns="0" bIns="0" rtlCol="0" anchor="t">
            <a:spAutoFit/>
          </a:bodyPr>
          <a:lstStyle/>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Hệ thống quản lý nhân sự sử dụng thiết bị truy cập máy chủ và dịch vụ nội bộ bệnh viện MedLink.</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 Phân công thiết bị cho từng nhân viên theo khoa/phòng</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 Kiểm soát quyền truy cập máy chủ và dịch vụ nội bộ</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 Quản lý vòng đời tài khoản người dùng trong hệ thống</a:t>
            </a:r>
          </a:p>
        </p:txBody>
      </p:sp>
      <p:sp>
        <p:nvSpPr>
          <p:cNvPr id="32" name="TextBox 32"/>
          <p:cNvSpPr txBox="1"/>
          <p:nvPr/>
        </p:nvSpPr>
        <p:spPr>
          <a:xfrm>
            <a:off x="7410450" y="5838825"/>
            <a:ext cx="3419475" cy="2390521"/>
          </a:xfrm>
          <a:prstGeom prst="rect">
            <a:avLst/>
          </a:prstGeom>
        </p:spPr>
        <p:txBody>
          <a:bodyPr lIns="0" tIns="0" rIns="0" bIns="0" rtlCol="0" anchor="t">
            <a:spAutoFit/>
          </a:bodyPr>
          <a:lstStyle/>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Theo dõi toàn bộ các thực thể trong hệ thống bệnh viện một cách đồng bộ và chính xác.</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 Khoa/phòng và cơ cấu tổ chức nhân sự</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 Tài khoản, thiết bị, máy chủ vật lý &amp; ảo hóa</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 Dịch vụ nội bộ và quyền truy cập tương ứng</a:t>
            </a:r>
          </a:p>
        </p:txBody>
      </p:sp>
      <p:sp>
        <p:nvSpPr>
          <p:cNvPr id="33" name="TextBox 33"/>
          <p:cNvSpPr txBox="1"/>
          <p:nvPr/>
        </p:nvSpPr>
        <p:spPr>
          <a:xfrm>
            <a:off x="2505075" y="3590925"/>
            <a:ext cx="2867025" cy="1163664"/>
          </a:xfrm>
          <a:prstGeom prst="rect">
            <a:avLst/>
          </a:prstGeom>
        </p:spPr>
        <p:txBody>
          <a:bodyPr lIns="0" tIns="0" rIns="0" bIns="0" rtlCol="0" anchor="t">
            <a:spAutoFit/>
          </a:bodyPr>
          <a:lstStyle/>
          <a:p>
            <a:pPr marL="0" lvl="0" indent="0" algn="ctr">
              <a:lnSpc>
                <a:spcPts val="3083"/>
              </a:lnSpc>
              <a:spcBef>
                <a:spcPct val="0"/>
              </a:spcBef>
            </a:pPr>
            <a:r>
              <a:rPr lang="en-US" sz="2390" u="none" strike="noStrike">
                <a:solidFill>
                  <a:srgbClr val="FFFFFF"/>
                </a:solidFill>
                <a:latin typeface="Montserrat"/>
                <a:ea typeface="Montserrat"/>
                <a:cs typeface="Montserrat"/>
                <a:sym typeface="Montserrat"/>
              </a:rPr>
              <a:t>Quản lý</a:t>
            </a:r>
          </a:p>
          <a:p>
            <a:pPr marL="0" lvl="0" indent="0" algn="ctr">
              <a:lnSpc>
                <a:spcPts val="3083"/>
              </a:lnSpc>
              <a:spcBef>
                <a:spcPct val="0"/>
              </a:spcBef>
            </a:pPr>
            <a:r>
              <a:rPr lang="en-US" sz="2390" u="none" strike="noStrike">
                <a:solidFill>
                  <a:srgbClr val="FFFFFF"/>
                </a:solidFill>
                <a:latin typeface="Montserrat"/>
                <a:ea typeface="Montserrat"/>
                <a:cs typeface="Montserrat"/>
                <a:sym typeface="Montserrat"/>
              </a:rPr>
              <a:t>Nhân sự &amp;</a:t>
            </a:r>
          </a:p>
          <a:p>
            <a:pPr marL="0" lvl="0" indent="0" algn="ctr">
              <a:lnSpc>
                <a:spcPts val="3083"/>
              </a:lnSpc>
              <a:spcBef>
                <a:spcPct val="0"/>
              </a:spcBef>
            </a:pPr>
            <a:r>
              <a:rPr lang="en-US" sz="2390" u="none" strike="noStrike">
                <a:solidFill>
                  <a:srgbClr val="FFFFFF"/>
                </a:solidFill>
                <a:latin typeface="Montserrat"/>
                <a:ea typeface="Montserrat"/>
                <a:cs typeface="Montserrat"/>
                <a:sym typeface="Montserrat"/>
              </a:rPr>
              <a:t>Thiết bị</a:t>
            </a:r>
          </a:p>
        </p:txBody>
      </p:sp>
      <p:sp>
        <p:nvSpPr>
          <p:cNvPr id="34" name="TextBox 34"/>
          <p:cNvSpPr txBox="1"/>
          <p:nvPr/>
        </p:nvSpPr>
        <p:spPr>
          <a:xfrm>
            <a:off x="7686675" y="4000500"/>
            <a:ext cx="2867025" cy="773020"/>
          </a:xfrm>
          <a:prstGeom prst="rect">
            <a:avLst/>
          </a:prstGeom>
        </p:spPr>
        <p:txBody>
          <a:bodyPr lIns="0" tIns="0" rIns="0" bIns="0" rtlCol="0" anchor="t">
            <a:spAutoFit/>
          </a:bodyPr>
          <a:lstStyle/>
          <a:p>
            <a:pPr marL="0" lvl="0" indent="0" algn="ctr">
              <a:lnSpc>
                <a:spcPts val="3083"/>
              </a:lnSpc>
              <a:spcBef>
                <a:spcPct val="0"/>
              </a:spcBef>
            </a:pPr>
            <a:r>
              <a:rPr lang="en-US" sz="2390" u="none" strike="noStrike">
                <a:solidFill>
                  <a:srgbClr val="FFFFFF"/>
                </a:solidFill>
                <a:latin typeface="Montserrat"/>
                <a:ea typeface="Montserrat"/>
                <a:cs typeface="Montserrat"/>
                <a:sym typeface="Montserrat"/>
              </a:rPr>
              <a:t>Theo dõi Hệ thống Toàn diện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910220" y="7059738"/>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4" name="Freeform 4"/>
          <p:cNvSpPr/>
          <p:nvPr/>
        </p:nvSpPr>
        <p:spPr>
          <a:xfrm>
            <a:off x="-4844112" y="-7095921"/>
            <a:ext cx="14226186" cy="11718820"/>
          </a:xfrm>
          <a:custGeom>
            <a:avLst/>
            <a:gdLst/>
            <a:ahLst/>
            <a:cxnLst/>
            <a:rect l="l" t="t" r="r" b="b"/>
            <a:pathLst>
              <a:path w="14226186" h="11718820">
                <a:moveTo>
                  <a:pt x="0" y="0"/>
                </a:moveTo>
                <a:lnTo>
                  <a:pt x="14226185" y="0"/>
                </a:lnTo>
                <a:lnTo>
                  <a:pt x="14226185" y="11718821"/>
                </a:lnTo>
                <a:lnTo>
                  <a:pt x="0" y="1171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4597727" y="2100681"/>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0570766" y="8795376"/>
            <a:ext cx="2899646" cy="925848"/>
          </a:xfrm>
          <a:custGeom>
            <a:avLst/>
            <a:gdLst/>
            <a:ahLst/>
            <a:cxnLst/>
            <a:rect l="l" t="t" r="r" b="b"/>
            <a:pathLst>
              <a:path w="2899646" h="925848">
                <a:moveTo>
                  <a:pt x="0" y="0"/>
                </a:moveTo>
                <a:lnTo>
                  <a:pt x="2899646" y="0"/>
                </a:lnTo>
                <a:lnTo>
                  <a:pt x="2899646" y="925848"/>
                </a:lnTo>
                <a:lnTo>
                  <a:pt x="0" y="9258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5599089" y="800505"/>
            <a:ext cx="7089823" cy="1727765"/>
            <a:chOff x="0" y="0"/>
            <a:chExt cx="2189909" cy="474604"/>
          </a:xfrm>
        </p:grpSpPr>
        <p:sp>
          <p:nvSpPr>
            <p:cNvPr id="8" name="Freeform 8"/>
            <p:cNvSpPr/>
            <p:nvPr/>
          </p:nvSpPr>
          <p:spPr>
            <a:xfrm>
              <a:off x="0" y="0"/>
              <a:ext cx="2189909" cy="474604"/>
            </a:xfrm>
            <a:custGeom>
              <a:avLst/>
              <a:gdLst/>
              <a:ahLst/>
              <a:cxnLst/>
              <a:rect l="l" t="t" r="r" b="b"/>
              <a:pathLst>
                <a:path w="2189909" h="474604">
                  <a:moveTo>
                    <a:pt x="0" y="0"/>
                  </a:moveTo>
                  <a:lnTo>
                    <a:pt x="2189909" y="0"/>
                  </a:lnTo>
                  <a:lnTo>
                    <a:pt x="2189909"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9" name="TextBox 9"/>
            <p:cNvSpPr txBox="1"/>
            <p:nvPr/>
          </p:nvSpPr>
          <p:spPr>
            <a:xfrm>
              <a:off x="0" y="-38100"/>
              <a:ext cx="2189909" cy="512704"/>
            </a:xfrm>
            <a:prstGeom prst="rect">
              <a:avLst/>
            </a:prstGeom>
          </p:spPr>
          <p:txBody>
            <a:bodyPr lIns="50800" tIns="50800" rIns="50800" bIns="50800" rtlCol="0" anchor="ctr"/>
            <a:lstStyle/>
            <a:p>
              <a:pPr marL="0" lvl="0" indent="0" algn="ctr">
                <a:lnSpc>
                  <a:spcPts val="3384"/>
                </a:lnSpc>
              </a:pPr>
              <a:endParaRPr/>
            </a:p>
          </p:txBody>
        </p:sp>
      </p:grpSp>
      <p:sp>
        <p:nvSpPr>
          <p:cNvPr id="10" name="TextBox 10"/>
          <p:cNvSpPr txBox="1"/>
          <p:nvPr/>
        </p:nvSpPr>
        <p:spPr>
          <a:xfrm>
            <a:off x="6267450" y="1200150"/>
            <a:ext cx="5762625" cy="606374"/>
          </a:xfrm>
          <a:prstGeom prst="rect">
            <a:avLst/>
          </a:prstGeom>
        </p:spPr>
        <p:txBody>
          <a:bodyPr lIns="0" tIns="0" rIns="0" bIns="0" rtlCol="0" anchor="t">
            <a:spAutoFit/>
          </a:bodyPr>
          <a:lstStyle/>
          <a:p>
            <a:pPr marL="0" lvl="0" indent="0" algn="ctr">
              <a:lnSpc>
                <a:spcPts val="4702"/>
              </a:lnSpc>
              <a:spcBef>
                <a:spcPct val="0"/>
              </a:spcBef>
            </a:pPr>
            <a:r>
              <a:rPr lang="en-US" sz="3918" u="none" strike="noStrike" dirty="0">
                <a:solidFill>
                  <a:srgbClr val="FFFFFF"/>
                </a:solidFill>
                <a:latin typeface="Montserrat"/>
                <a:ea typeface="Montserrat"/>
                <a:cs typeface="Montserrat"/>
                <a:sym typeface="Montserrat"/>
              </a:rPr>
              <a:t>MỤC TIÊU BÀI CUỐI KỲ</a:t>
            </a:r>
          </a:p>
        </p:txBody>
      </p:sp>
      <p:grpSp>
        <p:nvGrpSpPr>
          <p:cNvPr id="11" name="Group 11"/>
          <p:cNvGrpSpPr/>
          <p:nvPr/>
        </p:nvGrpSpPr>
        <p:grpSpPr>
          <a:xfrm>
            <a:off x="453066" y="2958885"/>
            <a:ext cx="10292045" cy="1701486"/>
            <a:chOff x="0" y="0"/>
            <a:chExt cx="2710662" cy="448128"/>
          </a:xfrm>
        </p:grpSpPr>
        <p:sp>
          <p:nvSpPr>
            <p:cNvPr id="12" name="Freeform 12"/>
            <p:cNvSpPr/>
            <p:nvPr/>
          </p:nvSpPr>
          <p:spPr>
            <a:xfrm>
              <a:off x="0" y="0"/>
              <a:ext cx="2710662" cy="448128"/>
            </a:xfrm>
            <a:custGeom>
              <a:avLst/>
              <a:gdLst/>
              <a:ahLst/>
              <a:cxnLst/>
              <a:rect l="l" t="t" r="r" b="b"/>
              <a:pathLst>
                <a:path w="2710662" h="448128">
                  <a:moveTo>
                    <a:pt x="0" y="0"/>
                  </a:moveTo>
                  <a:lnTo>
                    <a:pt x="2710662" y="0"/>
                  </a:lnTo>
                  <a:lnTo>
                    <a:pt x="2710662" y="448128"/>
                  </a:lnTo>
                  <a:lnTo>
                    <a:pt x="0" y="448128"/>
                  </a:lnTo>
                  <a:close/>
                </a:path>
              </a:pathLst>
            </a:custGeom>
            <a:solidFill>
              <a:srgbClr val="FEFEFF"/>
            </a:solidFill>
            <a:ln w="38100" cap="sq">
              <a:solidFill>
                <a:srgbClr val="000000"/>
              </a:solidFill>
              <a:prstDash val="solid"/>
              <a:miter/>
            </a:ln>
          </p:spPr>
          <p:txBody>
            <a:bodyPr/>
            <a:lstStyle/>
            <a:p>
              <a:endParaRPr lang="en-US"/>
            </a:p>
          </p:txBody>
        </p:sp>
        <p:sp>
          <p:nvSpPr>
            <p:cNvPr id="13" name="TextBox 13"/>
            <p:cNvSpPr txBox="1"/>
            <p:nvPr/>
          </p:nvSpPr>
          <p:spPr>
            <a:xfrm>
              <a:off x="0" y="-38100"/>
              <a:ext cx="2710662" cy="486228"/>
            </a:xfrm>
            <a:prstGeom prst="rect">
              <a:avLst/>
            </a:prstGeom>
          </p:spPr>
          <p:txBody>
            <a:bodyPr lIns="50800" tIns="50800" rIns="50800" bIns="50800" rtlCol="0" anchor="ctr"/>
            <a:lstStyle/>
            <a:p>
              <a:pPr algn="ctr">
                <a:lnSpc>
                  <a:spcPts val="3384"/>
                </a:lnSpc>
              </a:pPr>
              <a:endParaRPr/>
            </a:p>
          </p:txBody>
        </p:sp>
      </p:grpSp>
      <p:sp>
        <p:nvSpPr>
          <p:cNvPr id="14" name="TextBox 14"/>
          <p:cNvSpPr txBox="1"/>
          <p:nvPr/>
        </p:nvSpPr>
        <p:spPr>
          <a:xfrm>
            <a:off x="1285875" y="3638550"/>
            <a:ext cx="9286875" cy="871109"/>
          </a:xfrm>
          <a:prstGeom prst="rect">
            <a:avLst/>
          </a:prstGeom>
        </p:spPr>
        <p:txBody>
          <a:bodyPr lIns="0" tIns="0" rIns="0" bIns="0" rtlCol="0" anchor="t">
            <a:spAutoFit/>
          </a:bodyPr>
          <a:lstStyle/>
          <a:p>
            <a:pPr marL="0" lvl="0" indent="0" algn="just">
              <a:lnSpc>
                <a:spcPts val="2379"/>
              </a:lnSpc>
              <a:spcBef>
                <a:spcPct val="0"/>
              </a:spcBef>
            </a:pPr>
            <a:r>
              <a:rPr lang="en-US" sz="1699" u="none" strike="noStrike">
                <a:solidFill>
                  <a:srgbClr val="1B2436"/>
                </a:solidFill>
                <a:latin typeface="Open Sans"/>
                <a:ea typeface="Open Sans"/>
                <a:cs typeface="Open Sans"/>
                <a:sym typeface="Open Sans"/>
              </a:rPr>
              <a:t>Kế thừa ERD và DDL từ bài giữa kỳ, bổ sung dữ liệu mẫu đầy đủ cho các bảng. Xây dựng các truy vấn SQL tiêu biểu thể hiện tính năng hệ thống quản lý truy cập thiết bị bệnh viện MedLink.</a:t>
            </a:r>
          </a:p>
        </p:txBody>
      </p:sp>
      <p:grpSp>
        <p:nvGrpSpPr>
          <p:cNvPr id="15" name="Group 15"/>
          <p:cNvGrpSpPr/>
          <p:nvPr/>
        </p:nvGrpSpPr>
        <p:grpSpPr>
          <a:xfrm>
            <a:off x="453066" y="5165196"/>
            <a:ext cx="10292045" cy="1701486"/>
            <a:chOff x="0" y="0"/>
            <a:chExt cx="2710662" cy="448128"/>
          </a:xfrm>
        </p:grpSpPr>
        <p:sp>
          <p:nvSpPr>
            <p:cNvPr id="16" name="Freeform 16"/>
            <p:cNvSpPr/>
            <p:nvPr/>
          </p:nvSpPr>
          <p:spPr>
            <a:xfrm>
              <a:off x="0" y="0"/>
              <a:ext cx="2710662" cy="448128"/>
            </a:xfrm>
            <a:custGeom>
              <a:avLst/>
              <a:gdLst/>
              <a:ahLst/>
              <a:cxnLst/>
              <a:rect l="l" t="t" r="r" b="b"/>
              <a:pathLst>
                <a:path w="2710662" h="448128">
                  <a:moveTo>
                    <a:pt x="0" y="0"/>
                  </a:moveTo>
                  <a:lnTo>
                    <a:pt x="2710662" y="0"/>
                  </a:lnTo>
                  <a:lnTo>
                    <a:pt x="2710662" y="448128"/>
                  </a:lnTo>
                  <a:lnTo>
                    <a:pt x="0" y="448128"/>
                  </a:lnTo>
                  <a:close/>
                </a:path>
              </a:pathLst>
            </a:custGeom>
            <a:solidFill>
              <a:srgbClr val="FEFEFF"/>
            </a:solidFill>
            <a:ln w="38100" cap="sq">
              <a:solidFill>
                <a:srgbClr val="000000"/>
              </a:solidFill>
              <a:prstDash val="solid"/>
              <a:miter/>
            </a:ln>
          </p:spPr>
          <p:txBody>
            <a:bodyPr/>
            <a:lstStyle/>
            <a:p>
              <a:endParaRPr lang="en-US"/>
            </a:p>
          </p:txBody>
        </p:sp>
        <p:sp>
          <p:nvSpPr>
            <p:cNvPr id="17" name="TextBox 17"/>
            <p:cNvSpPr txBox="1"/>
            <p:nvPr/>
          </p:nvSpPr>
          <p:spPr>
            <a:xfrm>
              <a:off x="0" y="-38100"/>
              <a:ext cx="2710662" cy="486228"/>
            </a:xfrm>
            <a:prstGeom prst="rect">
              <a:avLst/>
            </a:prstGeom>
          </p:spPr>
          <p:txBody>
            <a:bodyPr lIns="50800" tIns="50800" rIns="50800" bIns="50800" rtlCol="0" anchor="ctr"/>
            <a:lstStyle/>
            <a:p>
              <a:pPr algn="ctr">
                <a:lnSpc>
                  <a:spcPts val="3384"/>
                </a:lnSpc>
              </a:pPr>
              <a:endParaRPr/>
            </a:p>
          </p:txBody>
        </p:sp>
      </p:grpSp>
      <p:sp>
        <p:nvSpPr>
          <p:cNvPr id="18" name="TextBox 18"/>
          <p:cNvSpPr txBox="1"/>
          <p:nvPr/>
        </p:nvSpPr>
        <p:spPr>
          <a:xfrm>
            <a:off x="1285875" y="5769091"/>
            <a:ext cx="9286875" cy="871109"/>
          </a:xfrm>
          <a:prstGeom prst="rect">
            <a:avLst/>
          </a:prstGeom>
        </p:spPr>
        <p:txBody>
          <a:bodyPr lIns="0" tIns="0" rIns="0" bIns="0" rtlCol="0" anchor="t">
            <a:spAutoFit/>
          </a:bodyPr>
          <a:lstStyle/>
          <a:p>
            <a:pPr marL="0" lvl="0" indent="0" algn="just">
              <a:lnSpc>
                <a:spcPts val="2379"/>
              </a:lnSpc>
              <a:spcBef>
                <a:spcPct val="0"/>
              </a:spcBef>
            </a:pPr>
            <a:r>
              <a:rPr lang="en-US" sz="1699" u="none" strike="noStrike">
                <a:solidFill>
                  <a:srgbClr val="1B2436"/>
                </a:solidFill>
                <a:latin typeface="Open Sans"/>
                <a:ea typeface="Open Sans"/>
                <a:cs typeface="Open Sans"/>
                <a:sym typeface="Open Sans"/>
              </a:rPr>
              <a:t>Xây dựng view tổng hợp, stored function và stored procedure nâng cao. Thêm trigger audit tự động ghi log, event cleanup dọn dữ liệu cũ, index tối ưu hiệu năng và phân tích EXPLAIN cho các truy vấn quan trọng.</a:t>
            </a:r>
          </a:p>
        </p:txBody>
      </p:sp>
      <p:sp>
        <p:nvSpPr>
          <p:cNvPr id="19" name="TextBox 19"/>
          <p:cNvSpPr txBox="1"/>
          <p:nvPr/>
        </p:nvSpPr>
        <p:spPr>
          <a:xfrm>
            <a:off x="742950" y="3009900"/>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Kế thừa &amp; Bổ sung dữ liệu</a:t>
            </a:r>
          </a:p>
        </p:txBody>
      </p:sp>
      <p:sp>
        <p:nvSpPr>
          <p:cNvPr id="20" name="TextBox 20"/>
          <p:cNvSpPr txBox="1"/>
          <p:nvPr/>
        </p:nvSpPr>
        <p:spPr>
          <a:xfrm>
            <a:off x="742950" y="5259676"/>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Xây dựng đối tượng schema nâng cao</a:t>
            </a:r>
          </a:p>
        </p:txBody>
      </p:sp>
      <p:grpSp>
        <p:nvGrpSpPr>
          <p:cNvPr id="21" name="Group 21"/>
          <p:cNvGrpSpPr/>
          <p:nvPr/>
        </p:nvGrpSpPr>
        <p:grpSpPr>
          <a:xfrm>
            <a:off x="11635770" y="2337032"/>
            <a:ext cx="5623530" cy="6921268"/>
            <a:chOff x="0" y="0"/>
            <a:chExt cx="660400" cy="812800"/>
          </a:xfrm>
        </p:grpSpPr>
        <p:sp>
          <p:nvSpPr>
            <p:cNvPr id="22" name="Freeform 22"/>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FFFF"/>
            </a:solidFill>
            <a:ln w="114300" cap="sq">
              <a:solidFill>
                <a:srgbClr val="0F5679"/>
              </a:solidFill>
              <a:prstDash val="solid"/>
              <a:miter/>
            </a:ln>
          </p:spPr>
          <p:txBody>
            <a:bodyPr/>
            <a:lstStyle/>
            <a:p>
              <a:endParaRPr lang="en-US"/>
            </a:p>
          </p:txBody>
        </p:sp>
        <p:sp>
          <p:nvSpPr>
            <p:cNvPr id="23" name="TextBox 23"/>
            <p:cNvSpPr txBox="1"/>
            <p:nvPr/>
          </p:nvSpPr>
          <p:spPr>
            <a:xfrm>
              <a:off x="0" y="88900"/>
              <a:ext cx="660400" cy="723900"/>
            </a:xfrm>
            <a:prstGeom prst="rect">
              <a:avLst/>
            </a:prstGeom>
          </p:spPr>
          <p:txBody>
            <a:bodyPr lIns="50800" tIns="50800" rIns="50800" bIns="50800" rtlCol="0" anchor="ctr"/>
            <a:lstStyle/>
            <a:p>
              <a:pPr marL="0" lvl="0" indent="0" algn="ctr">
                <a:lnSpc>
                  <a:spcPts val="2928"/>
                </a:lnSpc>
              </a:pPr>
              <a:endParaRPr/>
            </a:p>
          </p:txBody>
        </p:sp>
      </p:grpSp>
      <p:grpSp>
        <p:nvGrpSpPr>
          <p:cNvPr id="24" name="Group 24"/>
          <p:cNvGrpSpPr/>
          <p:nvPr/>
        </p:nvGrpSpPr>
        <p:grpSpPr>
          <a:xfrm>
            <a:off x="11908100" y="2817729"/>
            <a:ext cx="5078869" cy="6250916"/>
            <a:chOff x="0" y="0"/>
            <a:chExt cx="660400" cy="812800"/>
          </a:xfrm>
        </p:grpSpPr>
        <p:sp>
          <p:nvSpPr>
            <p:cNvPr id="25" name="Freeform 25"/>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blipFill>
              <a:blip r:embed="rId5"/>
              <a:stretch>
                <a:fillRect/>
              </a:stretch>
            </a:blipFill>
          </p:spPr>
          <p:txBody>
            <a:bodyPr/>
            <a:lstStyle/>
            <a:p>
              <a:endParaRPr lang="en-US"/>
            </a:p>
          </p:txBody>
        </p:sp>
      </p:grpSp>
      <p:grpSp>
        <p:nvGrpSpPr>
          <p:cNvPr id="26" name="Group 26"/>
          <p:cNvGrpSpPr/>
          <p:nvPr/>
        </p:nvGrpSpPr>
        <p:grpSpPr>
          <a:xfrm>
            <a:off x="453066" y="7367159"/>
            <a:ext cx="10292045" cy="1701486"/>
            <a:chOff x="0" y="0"/>
            <a:chExt cx="2710662" cy="448128"/>
          </a:xfrm>
        </p:grpSpPr>
        <p:sp>
          <p:nvSpPr>
            <p:cNvPr id="27" name="Freeform 27"/>
            <p:cNvSpPr/>
            <p:nvPr/>
          </p:nvSpPr>
          <p:spPr>
            <a:xfrm>
              <a:off x="0" y="0"/>
              <a:ext cx="2710662" cy="448128"/>
            </a:xfrm>
            <a:custGeom>
              <a:avLst/>
              <a:gdLst/>
              <a:ahLst/>
              <a:cxnLst/>
              <a:rect l="l" t="t" r="r" b="b"/>
              <a:pathLst>
                <a:path w="2710662" h="448128">
                  <a:moveTo>
                    <a:pt x="0" y="0"/>
                  </a:moveTo>
                  <a:lnTo>
                    <a:pt x="2710662" y="0"/>
                  </a:lnTo>
                  <a:lnTo>
                    <a:pt x="2710662" y="448128"/>
                  </a:lnTo>
                  <a:lnTo>
                    <a:pt x="0" y="448128"/>
                  </a:lnTo>
                  <a:close/>
                </a:path>
              </a:pathLst>
            </a:custGeom>
            <a:solidFill>
              <a:srgbClr val="FEFEFF"/>
            </a:solidFill>
            <a:ln w="38100" cap="sq">
              <a:solidFill>
                <a:srgbClr val="000000"/>
              </a:solidFill>
              <a:prstDash val="solid"/>
              <a:miter/>
            </a:ln>
          </p:spPr>
          <p:txBody>
            <a:bodyPr/>
            <a:lstStyle/>
            <a:p>
              <a:endParaRPr lang="en-US"/>
            </a:p>
          </p:txBody>
        </p:sp>
        <p:sp>
          <p:nvSpPr>
            <p:cNvPr id="28" name="TextBox 28"/>
            <p:cNvSpPr txBox="1"/>
            <p:nvPr/>
          </p:nvSpPr>
          <p:spPr>
            <a:xfrm>
              <a:off x="0" y="-38100"/>
              <a:ext cx="2710662" cy="486228"/>
            </a:xfrm>
            <a:prstGeom prst="rect">
              <a:avLst/>
            </a:prstGeom>
          </p:spPr>
          <p:txBody>
            <a:bodyPr lIns="50800" tIns="50800" rIns="50800" bIns="50800" rtlCol="0" anchor="ctr"/>
            <a:lstStyle/>
            <a:p>
              <a:pPr algn="ctr">
                <a:lnSpc>
                  <a:spcPts val="3384"/>
                </a:lnSpc>
              </a:pPr>
              <a:endParaRPr/>
            </a:p>
          </p:txBody>
        </p:sp>
      </p:grpSp>
      <p:sp>
        <p:nvSpPr>
          <p:cNvPr id="29" name="TextBox 29"/>
          <p:cNvSpPr txBox="1"/>
          <p:nvPr/>
        </p:nvSpPr>
        <p:spPr>
          <a:xfrm>
            <a:off x="1285875" y="8001973"/>
            <a:ext cx="9286875" cy="899089"/>
          </a:xfrm>
          <a:prstGeom prst="rect">
            <a:avLst/>
          </a:prstGeom>
        </p:spPr>
        <p:txBody>
          <a:bodyPr lIns="0" tIns="0" rIns="0" bIns="0" rtlCol="0" anchor="t">
            <a:spAutoFit/>
          </a:bodyPr>
          <a:lstStyle/>
          <a:p>
            <a:pPr marL="0" lvl="0" indent="0" algn="just">
              <a:lnSpc>
                <a:spcPts val="2421"/>
              </a:lnSpc>
              <a:spcBef>
                <a:spcPct val="0"/>
              </a:spcBef>
            </a:pPr>
            <a:r>
              <a:rPr lang="en-US" sz="1729" u="none" strike="noStrike">
                <a:solidFill>
                  <a:srgbClr val="1B2436"/>
                </a:solidFill>
                <a:latin typeface="Open Sans"/>
                <a:ea typeface="Open Sans"/>
                <a:cs typeface="Open Sans"/>
                <a:sym typeface="Open Sans"/>
              </a:rPr>
              <a:t>Thiết kế user/role theo nguyên tắc least privilege (reporter, operator). Kiểm thử positive/negative cases để chứng minh ràng buộc nghiệp vụ. Mô tả quy trình backup/restore cho môi trường MySQL local.</a:t>
            </a:r>
          </a:p>
        </p:txBody>
      </p:sp>
      <p:sp>
        <p:nvSpPr>
          <p:cNvPr id="30" name="TextBox 30"/>
          <p:cNvSpPr txBox="1"/>
          <p:nvPr/>
        </p:nvSpPr>
        <p:spPr>
          <a:xfrm>
            <a:off x="742950" y="7488265"/>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Phân quyền &amp; Kiểm thử</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910220" y="7059738"/>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4" name="Freeform 4"/>
          <p:cNvSpPr/>
          <p:nvPr/>
        </p:nvSpPr>
        <p:spPr>
          <a:xfrm>
            <a:off x="-4844112" y="-7095921"/>
            <a:ext cx="14226186" cy="11718820"/>
          </a:xfrm>
          <a:custGeom>
            <a:avLst/>
            <a:gdLst/>
            <a:ahLst/>
            <a:cxnLst/>
            <a:rect l="l" t="t" r="r" b="b"/>
            <a:pathLst>
              <a:path w="14226186" h="11718820">
                <a:moveTo>
                  <a:pt x="0" y="0"/>
                </a:moveTo>
                <a:lnTo>
                  <a:pt x="14226185" y="0"/>
                </a:lnTo>
                <a:lnTo>
                  <a:pt x="14226185" y="11718821"/>
                </a:lnTo>
                <a:lnTo>
                  <a:pt x="0" y="1171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347702" y="-424916"/>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862705" y="9728851"/>
            <a:ext cx="2899646" cy="925848"/>
          </a:xfrm>
          <a:custGeom>
            <a:avLst/>
            <a:gdLst/>
            <a:ahLst/>
            <a:cxnLst/>
            <a:rect l="l" t="t" r="r" b="b"/>
            <a:pathLst>
              <a:path w="2899646" h="925848">
                <a:moveTo>
                  <a:pt x="0" y="0"/>
                </a:moveTo>
                <a:lnTo>
                  <a:pt x="2899647" y="0"/>
                </a:lnTo>
                <a:lnTo>
                  <a:pt x="2899647" y="925848"/>
                </a:lnTo>
                <a:lnTo>
                  <a:pt x="0" y="9258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2927337" y="0"/>
            <a:ext cx="13493441" cy="1636621"/>
            <a:chOff x="0" y="0"/>
            <a:chExt cx="3912963" cy="474604"/>
          </a:xfrm>
        </p:grpSpPr>
        <p:sp>
          <p:nvSpPr>
            <p:cNvPr id="8" name="Freeform 8"/>
            <p:cNvSpPr/>
            <p:nvPr/>
          </p:nvSpPr>
          <p:spPr>
            <a:xfrm>
              <a:off x="0" y="0"/>
              <a:ext cx="3912963" cy="474604"/>
            </a:xfrm>
            <a:custGeom>
              <a:avLst/>
              <a:gdLst/>
              <a:ahLst/>
              <a:cxnLst/>
              <a:rect l="l" t="t" r="r" b="b"/>
              <a:pathLst>
                <a:path w="3912963" h="474604">
                  <a:moveTo>
                    <a:pt x="0" y="0"/>
                  </a:moveTo>
                  <a:lnTo>
                    <a:pt x="3912963" y="0"/>
                  </a:lnTo>
                  <a:lnTo>
                    <a:pt x="3912963"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9" name="TextBox 9"/>
            <p:cNvSpPr txBox="1"/>
            <p:nvPr/>
          </p:nvSpPr>
          <p:spPr>
            <a:xfrm>
              <a:off x="0" y="-38100"/>
              <a:ext cx="3912963" cy="512704"/>
            </a:xfrm>
            <a:prstGeom prst="rect">
              <a:avLst/>
            </a:prstGeom>
          </p:spPr>
          <p:txBody>
            <a:bodyPr lIns="50800" tIns="50800" rIns="50800" bIns="50800" rtlCol="0" anchor="ctr"/>
            <a:lstStyle/>
            <a:p>
              <a:pPr marL="0" lvl="0" indent="0" algn="ctr">
                <a:lnSpc>
                  <a:spcPts val="3384"/>
                </a:lnSpc>
              </a:pPr>
              <a:endParaRPr/>
            </a:p>
          </p:txBody>
        </p:sp>
      </p:grpSp>
      <p:grpSp>
        <p:nvGrpSpPr>
          <p:cNvPr id="10" name="Group 10"/>
          <p:cNvGrpSpPr/>
          <p:nvPr/>
        </p:nvGrpSpPr>
        <p:grpSpPr>
          <a:xfrm>
            <a:off x="338476" y="4731455"/>
            <a:ext cx="4567657" cy="2515556"/>
            <a:chOff x="0" y="0"/>
            <a:chExt cx="1324575" cy="729486"/>
          </a:xfrm>
        </p:grpSpPr>
        <p:sp>
          <p:nvSpPr>
            <p:cNvPr id="11" name="Freeform 11"/>
            <p:cNvSpPr/>
            <p:nvPr/>
          </p:nvSpPr>
          <p:spPr>
            <a:xfrm>
              <a:off x="0" y="0"/>
              <a:ext cx="1324575" cy="729486"/>
            </a:xfrm>
            <a:custGeom>
              <a:avLst/>
              <a:gdLst/>
              <a:ahLst/>
              <a:cxnLst/>
              <a:rect l="l" t="t" r="r" b="b"/>
              <a:pathLst>
                <a:path w="1324575" h="729486">
                  <a:moveTo>
                    <a:pt x="0" y="0"/>
                  </a:moveTo>
                  <a:lnTo>
                    <a:pt x="1324575" y="0"/>
                  </a:lnTo>
                  <a:lnTo>
                    <a:pt x="1324575" y="729486"/>
                  </a:lnTo>
                  <a:lnTo>
                    <a:pt x="0" y="729486"/>
                  </a:lnTo>
                  <a:close/>
                </a:path>
              </a:pathLst>
            </a:custGeom>
            <a:solidFill>
              <a:srgbClr val="0F5679"/>
            </a:solidFill>
            <a:ln w="47625" cap="sq">
              <a:solidFill>
                <a:srgbClr val="FFFFFF"/>
              </a:solidFill>
              <a:prstDash val="solid"/>
              <a:miter/>
            </a:ln>
          </p:spPr>
          <p:txBody>
            <a:bodyPr/>
            <a:lstStyle/>
            <a:p>
              <a:endParaRPr lang="en-US"/>
            </a:p>
          </p:txBody>
        </p:sp>
        <p:sp>
          <p:nvSpPr>
            <p:cNvPr id="12" name="TextBox 12"/>
            <p:cNvSpPr txBox="1"/>
            <p:nvPr/>
          </p:nvSpPr>
          <p:spPr>
            <a:xfrm>
              <a:off x="0" y="-38100"/>
              <a:ext cx="1324575" cy="767586"/>
            </a:xfrm>
            <a:prstGeom prst="rect">
              <a:avLst/>
            </a:prstGeom>
          </p:spPr>
          <p:txBody>
            <a:bodyPr lIns="50800" tIns="50800" rIns="50800" bIns="50800" rtlCol="0" anchor="ctr"/>
            <a:lstStyle/>
            <a:p>
              <a:pPr marL="0" lvl="0" indent="0" algn="ctr">
                <a:lnSpc>
                  <a:spcPts val="3384"/>
                </a:lnSpc>
              </a:pPr>
              <a:endParaRPr/>
            </a:p>
          </p:txBody>
        </p:sp>
      </p:grpSp>
      <p:grpSp>
        <p:nvGrpSpPr>
          <p:cNvPr id="13" name="Group 13"/>
          <p:cNvGrpSpPr/>
          <p:nvPr/>
        </p:nvGrpSpPr>
        <p:grpSpPr>
          <a:xfrm>
            <a:off x="338998" y="1859769"/>
            <a:ext cx="4567657" cy="2515556"/>
            <a:chOff x="0" y="0"/>
            <a:chExt cx="1324575" cy="729486"/>
          </a:xfrm>
        </p:grpSpPr>
        <p:sp>
          <p:nvSpPr>
            <p:cNvPr id="14" name="Freeform 14"/>
            <p:cNvSpPr/>
            <p:nvPr/>
          </p:nvSpPr>
          <p:spPr>
            <a:xfrm>
              <a:off x="0" y="0"/>
              <a:ext cx="1324575" cy="729486"/>
            </a:xfrm>
            <a:custGeom>
              <a:avLst/>
              <a:gdLst/>
              <a:ahLst/>
              <a:cxnLst/>
              <a:rect l="l" t="t" r="r" b="b"/>
              <a:pathLst>
                <a:path w="1324575" h="729486">
                  <a:moveTo>
                    <a:pt x="0" y="0"/>
                  </a:moveTo>
                  <a:lnTo>
                    <a:pt x="1324575" y="0"/>
                  </a:lnTo>
                  <a:lnTo>
                    <a:pt x="1324575" y="729486"/>
                  </a:lnTo>
                  <a:lnTo>
                    <a:pt x="0" y="729486"/>
                  </a:lnTo>
                  <a:close/>
                </a:path>
              </a:pathLst>
            </a:custGeom>
            <a:solidFill>
              <a:srgbClr val="0F5679"/>
            </a:solidFill>
            <a:ln w="47625" cap="sq">
              <a:solidFill>
                <a:srgbClr val="FFFFFF"/>
              </a:solidFill>
              <a:prstDash val="solid"/>
              <a:miter/>
            </a:ln>
          </p:spPr>
          <p:txBody>
            <a:bodyPr/>
            <a:lstStyle/>
            <a:p>
              <a:endParaRPr lang="en-US"/>
            </a:p>
          </p:txBody>
        </p:sp>
        <p:sp>
          <p:nvSpPr>
            <p:cNvPr id="15" name="TextBox 15"/>
            <p:cNvSpPr txBox="1"/>
            <p:nvPr/>
          </p:nvSpPr>
          <p:spPr>
            <a:xfrm>
              <a:off x="0" y="-38100"/>
              <a:ext cx="1324575" cy="767586"/>
            </a:xfrm>
            <a:prstGeom prst="rect">
              <a:avLst/>
            </a:prstGeom>
          </p:spPr>
          <p:txBody>
            <a:bodyPr lIns="50800" tIns="50800" rIns="50800" bIns="50800" rtlCol="0" anchor="ctr"/>
            <a:lstStyle/>
            <a:p>
              <a:pPr marL="0" lvl="0" indent="0" algn="ctr">
                <a:lnSpc>
                  <a:spcPts val="3384"/>
                </a:lnSpc>
              </a:pPr>
              <a:endParaRPr/>
            </a:p>
          </p:txBody>
        </p:sp>
      </p:grpSp>
      <p:grpSp>
        <p:nvGrpSpPr>
          <p:cNvPr id="16" name="Group 16"/>
          <p:cNvGrpSpPr/>
          <p:nvPr/>
        </p:nvGrpSpPr>
        <p:grpSpPr>
          <a:xfrm>
            <a:off x="341589" y="7603141"/>
            <a:ext cx="4567657" cy="2515556"/>
            <a:chOff x="0" y="0"/>
            <a:chExt cx="1324575" cy="729486"/>
          </a:xfrm>
        </p:grpSpPr>
        <p:sp>
          <p:nvSpPr>
            <p:cNvPr id="17" name="Freeform 17"/>
            <p:cNvSpPr/>
            <p:nvPr/>
          </p:nvSpPr>
          <p:spPr>
            <a:xfrm>
              <a:off x="0" y="0"/>
              <a:ext cx="1324575" cy="729486"/>
            </a:xfrm>
            <a:custGeom>
              <a:avLst/>
              <a:gdLst/>
              <a:ahLst/>
              <a:cxnLst/>
              <a:rect l="l" t="t" r="r" b="b"/>
              <a:pathLst>
                <a:path w="1324575" h="729486">
                  <a:moveTo>
                    <a:pt x="0" y="0"/>
                  </a:moveTo>
                  <a:lnTo>
                    <a:pt x="1324575" y="0"/>
                  </a:lnTo>
                  <a:lnTo>
                    <a:pt x="1324575" y="729486"/>
                  </a:lnTo>
                  <a:lnTo>
                    <a:pt x="0" y="729486"/>
                  </a:lnTo>
                  <a:close/>
                </a:path>
              </a:pathLst>
            </a:custGeom>
            <a:solidFill>
              <a:srgbClr val="0F5679"/>
            </a:solidFill>
            <a:ln w="47625" cap="sq">
              <a:solidFill>
                <a:srgbClr val="FFFFFF"/>
              </a:solidFill>
              <a:prstDash val="solid"/>
              <a:miter/>
            </a:ln>
          </p:spPr>
          <p:txBody>
            <a:bodyPr/>
            <a:lstStyle/>
            <a:p>
              <a:endParaRPr lang="en-US"/>
            </a:p>
          </p:txBody>
        </p:sp>
        <p:sp>
          <p:nvSpPr>
            <p:cNvPr id="18" name="TextBox 18"/>
            <p:cNvSpPr txBox="1"/>
            <p:nvPr/>
          </p:nvSpPr>
          <p:spPr>
            <a:xfrm>
              <a:off x="0" y="-38100"/>
              <a:ext cx="1324575" cy="767586"/>
            </a:xfrm>
            <a:prstGeom prst="rect">
              <a:avLst/>
            </a:prstGeom>
          </p:spPr>
          <p:txBody>
            <a:bodyPr lIns="50800" tIns="50800" rIns="50800" bIns="50800" rtlCol="0" anchor="ctr"/>
            <a:lstStyle/>
            <a:p>
              <a:pPr marL="0" lvl="0" indent="0" algn="ctr">
                <a:lnSpc>
                  <a:spcPts val="3384"/>
                </a:lnSpc>
              </a:pPr>
              <a:endParaRPr/>
            </a:p>
          </p:txBody>
        </p:sp>
      </p:grpSp>
      <p:grpSp>
        <p:nvGrpSpPr>
          <p:cNvPr id="19" name="Group 19"/>
          <p:cNvGrpSpPr/>
          <p:nvPr/>
        </p:nvGrpSpPr>
        <p:grpSpPr>
          <a:xfrm>
            <a:off x="5319612" y="1976405"/>
            <a:ext cx="12689663" cy="8025656"/>
            <a:chOff x="0" y="0"/>
            <a:chExt cx="1285148" cy="812800"/>
          </a:xfrm>
        </p:grpSpPr>
        <p:sp>
          <p:nvSpPr>
            <p:cNvPr id="20" name="Freeform 20"/>
            <p:cNvSpPr/>
            <p:nvPr/>
          </p:nvSpPr>
          <p:spPr>
            <a:xfrm>
              <a:off x="0" y="0"/>
              <a:ext cx="1285148" cy="812800"/>
            </a:xfrm>
            <a:custGeom>
              <a:avLst/>
              <a:gdLst/>
              <a:ahLst/>
              <a:cxnLst/>
              <a:rect l="l" t="t" r="r" b="b"/>
              <a:pathLst>
                <a:path w="1285148" h="812800">
                  <a:moveTo>
                    <a:pt x="0" y="0"/>
                  </a:moveTo>
                  <a:lnTo>
                    <a:pt x="1285148" y="0"/>
                  </a:lnTo>
                  <a:lnTo>
                    <a:pt x="1285148" y="812800"/>
                  </a:lnTo>
                  <a:lnTo>
                    <a:pt x="0" y="812800"/>
                  </a:lnTo>
                  <a:close/>
                </a:path>
              </a:pathLst>
            </a:custGeom>
            <a:blipFill>
              <a:blip r:embed="rId5"/>
              <a:stretch>
                <a:fillRect t="-569" b="-569"/>
              </a:stretch>
            </a:blipFill>
          </p:spPr>
          <p:txBody>
            <a:bodyPr/>
            <a:lstStyle/>
            <a:p>
              <a:endParaRPr lang="en-US"/>
            </a:p>
          </p:txBody>
        </p:sp>
      </p:grpSp>
      <p:sp>
        <p:nvSpPr>
          <p:cNvPr id="21" name="TextBox 21"/>
          <p:cNvSpPr txBox="1"/>
          <p:nvPr/>
        </p:nvSpPr>
        <p:spPr>
          <a:xfrm>
            <a:off x="3330407" y="438786"/>
            <a:ext cx="12696825" cy="605456"/>
          </a:xfrm>
          <a:prstGeom prst="rect">
            <a:avLst/>
          </a:prstGeom>
        </p:spPr>
        <p:txBody>
          <a:bodyPr lIns="0" tIns="0" rIns="0" bIns="0" rtlCol="0" anchor="t">
            <a:spAutoFit/>
          </a:bodyPr>
          <a:lstStyle/>
          <a:p>
            <a:pPr marL="0" lvl="0" indent="0" algn="ctr">
              <a:lnSpc>
                <a:spcPts val="4777"/>
              </a:lnSpc>
              <a:spcBef>
                <a:spcPct val="0"/>
              </a:spcBef>
            </a:pPr>
            <a:r>
              <a:rPr lang="en-US" sz="3981" u="none" strike="noStrike">
                <a:solidFill>
                  <a:srgbClr val="FFFFFF"/>
                </a:solidFill>
                <a:latin typeface="Montserrat"/>
                <a:ea typeface="Montserrat"/>
                <a:cs typeface="Montserrat"/>
                <a:sym typeface="Montserrat"/>
              </a:rPr>
              <a:t>ERD FINAL - MEDLINK HOSPITAL DEVICE ACCESS</a:t>
            </a:r>
          </a:p>
        </p:txBody>
      </p:sp>
      <p:sp>
        <p:nvSpPr>
          <p:cNvPr id="22" name="TextBox 22"/>
          <p:cNvSpPr txBox="1"/>
          <p:nvPr/>
        </p:nvSpPr>
        <p:spPr>
          <a:xfrm>
            <a:off x="871876" y="6092772"/>
            <a:ext cx="3495675" cy="762748"/>
          </a:xfrm>
          <a:prstGeom prst="rect">
            <a:avLst/>
          </a:prstGeom>
        </p:spPr>
        <p:txBody>
          <a:bodyPr lIns="0" tIns="0" rIns="0" bIns="0" rtlCol="0" anchor="t">
            <a:spAutoFit/>
          </a:bodyPr>
          <a:lstStyle/>
          <a:p>
            <a:pPr marL="0" lvl="0" indent="0" algn="ctr">
              <a:lnSpc>
                <a:spcPts val="2058"/>
              </a:lnSpc>
              <a:spcBef>
                <a:spcPct val="0"/>
              </a:spcBef>
            </a:pPr>
            <a:r>
              <a:rPr lang="en-US" sz="1470" u="none" strike="noStrike">
                <a:solidFill>
                  <a:srgbClr val="FFFFFF"/>
                </a:solidFill>
                <a:latin typeface="Open Sans"/>
                <a:ea typeface="Open Sans"/>
                <a:cs typeface="Open Sans"/>
                <a:sym typeface="Open Sans"/>
              </a:rPr>
              <a:t>hospital_department, staff_member, device, hospital_server, hospital_service — các thực thể cốt lõi của hệ thống.</a:t>
            </a:r>
          </a:p>
        </p:txBody>
      </p:sp>
      <p:sp>
        <p:nvSpPr>
          <p:cNvPr id="23" name="TextBox 23"/>
          <p:cNvSpPr txBox="1"/>
          <p:nvPr/>
        </p:nvSpPr>
        <p:spPr>
          <a:xfrm>
            <a:off x="874467" y="3040111"/>
            <a:ext cx="3495675" cy="732683"/>
          </a:xfrm>
          <a:prstGeom prst="rect">
            <a:avLst/>
          </a:prstGeom>
        </p:spPr>
        <p:txBody>
          <a:bodyPr lIns="0" tIns="0" rIns="0" bIns="0" rtlCol="0" anchor="t">
            <a:spAutoFit/>
          </a:bodyPr>
          <a:lstStyle/>
          <a:p>
            <a:pPr marL="0" lvl="0" indent="0" algn="ctr">
              <a:lnSpc>
                <a:spcPts val="2014"/>
              </a:lnSpc>
              <a:spcBef>
                <a:spcPct val="0"/>
              </a:spcBef>
            </a:pPr>
            <a:r>
              <a:rPr lang="en-US" sz="1438" u="none" strike="noStrike">
                <a:solidFill>
                  <a:srgbClr val="FFFFFF"/>
                </a:solidFill>
                <a:latin typeface="Open Sans"/>
                <a:ea typeface="Open Sans"/>
                <a:cs typeface="Open Sans"/>
                <a:sym typeface="Open Sans"/>
              </a:rPr>
              <a:t>device_server_access, staff_service_access — quản lý cấp/thu hồi quyền và liên kết nhân sự với dịch vụ.</a:t>
            </a:r>
          </a:p>
        </p:txBody>
      </p:sp>
      <p:sp>
        <p:nvSpPr>
          <p:cNvPr id="24" name="TextBox 24"/>
          <p:cNvSpPr txBox="1"/>
          <p:nvPr/>
        </p:nvSpPr>
        <p:spPr>
          <a:xfrm>
            <a:off x="874989" y="8963503"/>
            <a:ext cx="3495675" cy="703385"/>
          </a:xfrm>
          <a:prstGeom prst="rect">
            <a:avLst/>
          </a:prstGeom>
        </p:spPr>
        <p:txBody>
          <a:bodyPr lIns="0" tIns="0" rIns="0" bIns="0" rtlCol="0" anchor="t">
            <a:spAutoFit/>
          </a:bodyPr>
          <a:lstStyle/>
          <a:p>
            <a:pPr marL="0" lvl="0" indent="0" algn="ctr">
              <a:lnSpc>
                <a:spcPts val="1928"/>
              </a:lnSpc>
              <a:spcBef>
                <a:spcPct val="0"/>
              </a:spcBef>
            </a:pPr>
            <a:r>
              <a:rPr lang="en-US" sz="1377" u="none" strike="noStrike">
                <a:solidFill>
                  <a:srgbClr val="FFFFFF"/>
                </a:solidFill>
                <a:latin typeface="Open Sans"/>
                <a:ea typeface="Open Sans"/>
                <a:cs typeface="Open Sans"/>
                <a:sym typeface="Open Sans"/>
              </a:rPr>
              <a:t>Subtype: mobile_device, fixed_workstation, physical_server, virtual_server. Audit: device_server_access_audit.</a:t>
            </a:r>
          </a:p>
        </p:txBody>
      </p:sp>
      <p:sp>
        <p:nvSpPr>
          <p:cNvPr id="25" name="TextBox 25"/>
          <p:cNvSpPr txBox="1"/>
          <p:nvPr/>
        </p:nvSpPr>
        <p:spPr>
          <a:xfrm>
            <a:off x="548026" y="5159322"/>
            <a:ext cx="4162425" cy="452573"/>
          </a:xfrm>
          <a:prstGeom prst="rect">
            <a:avLst/>
          </a:prstGeom>
        </p:spPr>
        <p:txBody>
          <a:bodyPr lIns="0" tIns="0" rIns="0" bIns="0" rtlCol="0" anchor="t">
            <a:spAutoFit/>
          </a:bodyPr>
          <a:lstStyle/>
          <a:p>
            <a:pPr marL="0" lvl="0" indent="0" algn="ctr">
              <a:lnSpc>
                <a:spcPts val="3747"/>
              </a:lnSpc>
              <a:spcBef>
                <a:spcPct val="0"/>
              </a:spcBef>
            </a:pPr>
            <a:r>
              <a:rPr lang="en-US" sz="2904" u="none" strike="noStrike">
                <a:solidFill>
                  <a:srgbClr val="FFFFFF"/>
                </a:solidFill>
                <a:latin typeface="Montserrat"/>
                <a:ea typeface="Montserrat"/>
                <a:cs typeface="Montserrat"/>
                <a:sym typeface="Montserrat"/>
              </a:rPr>
              <a:t>Bảng Trung Tâm</a:t>
            </a:r>
          </a:p>
        </p:txBody>
      </p:sp>
      <p:sp>
        <p:nvSpPr>
          <p:cNvPr id="26" name="TextBox 26"/>
          <p:cNvSpPr txBox="1"/>
          <p:nvPr/>
        </p:nvSpPr>
        <p:spPr>
          <a:xfrm>
            <a:off x="541092" y="2287636"/>
            <a:ext cx="4162425" cy="452573"/>
          </a:xfrm>
          <a:prstGeom prst="rect">
            <a:avLst/>
          </a:prstGeom>
        </p:spPr>
        <p:txBody>
          <a:bodyPr lIns="0" tIns="0" rIns="0" bIns="0" rtlCol="0" anchor="t">
            <a:spAutoFit/>
          </a:bodyPr>
          <a:lstStyle/>
          <a:p>
            <a:pPr marL="0" lvl="0" indent="0" algn="ctr">
              <a:lnSpc>
                <a:spcPts val="3747"/>
              </a:lnSpc>
              <a:spcBef>
                <a:spcPct val="0"/>
              </a:spcBef>
            </a:pPr>
            <a:r>
              <a:rPr lang="en-US" sz="2904" u="none" strike="noStrike">
                <a:solidFill>
                  <a:srgbClr val="FFFFFF"/>
                </a:solidFill>
                <a:latin typeface="Montserrat"/>
                <a:ea typeface="Montserrat"/>
                <a:cs typeface="Montserrat"/>
                <a:sym typeface="Montserrat"/>
              </a:rPr>
              <a:t>Bảng Quyền Truy Cập</a:t>
            </a:r>
          </a:p>
        </p:txBody>
      </p:sp>
      <p:sp>
        <p:nvSpPr>
          <p:cNvPr id="27" name="TextBox 27"/>
          <p:cNvSpPr txBox="1"/>
          <p:nvPr/>
        </p:nvSpPr>
        <p:spPr>
          <a:xfrm>
            <a:off x="1179789" y="7801453"/>
            <a:ext cx="2905125" cy="919298"/>
          </a:xfrm>
          <a:prstGeom prst="rect">
            <a:avLst/>
          </a:prstGeom>
        </p:spPr>
        <p:txBody>
          <a:bodyPr lIns="0" tIns="0" rIns="0" bIns="0" rtlCol="0" anchor="t">
            <a:spAutoFit/>
          </a:bodyPr>
          <a:lstStyle/>
          <a:p>
            <a:pPr marL="0" lvl="0" indent="0" algn="ctr">
              <a:lnSpc>
                <a:spcPts val="3747"/>
              </a:lnSpc>
              <a:spcBef>
                <a:spcPct val="0"/>
              </a:spcBef>
            </a:pPr>
            <a:r>
              <a:rPr lang="en-US" sz="2904" u="none" strike="noStrike">
                <a:solidFill>
                  <a:srgbClr val="FFFFFF"/>
                </a:solidFill>
                <a:latin typeface="Montserrat"/>
                <a:ea typeface="Montserrat"/>
                <a:cs typeface="Montserrat"/>
                <a:sym typeface="Montserrat"/>
              </a:rPr>
              <a:t>Subtype &amp; Audit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910220" y="7059738"/>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4" name="Freeform 4"/>
          <p:cNvSpPr/>
          <p:nvPr/>
        </p:nvSpPr>
        <p:spPr>
          <a:xfrm>
            <a:off x="-4844112" y="-7095921"/>
            <a:ext cx="14226186" cy="11718820"/>
          </a:xfrm>
          <a:custGeom>
            <a:avLst/>
            <a:gdLst/>
            <a:ahLst/>
            <a:cxnLst/>
            <a:rect l="l" t="t" r="r" b="b"/>
            <a:pathLst>
              <a:path w="14226186" h="11718820">
                <a:moveTo>
                  <a:pt x="0" y="0"/>
                </a:moveTo>
                <a:lnTo>
                  <a:pt x="14226185" y="0"/>
                </a:lnTo>
                <a:lnTo>
                  <a:pt x="14226185" y="11718821"/>
                </a:lnTo>
                <a:lnTo>
                  <a:pt x="0" y="1171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4597727" y="2100681"/>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0570766" y="8795376"/>
            <a:ext cx="2899646" cy="925848"/>
          </a:xfrm>
          <a:custGeom>
            <a:avLst/>
            <a:gdLst/>
            <a:ahLst/>
            <a:cxnLst/>
            <a:rect l="l" t="t" r="r" b="b"/>
            <a:pathLst>
              <a:path w="2899646" h="925848">
                <a:moveTo>
                  <a:pt x="0" y="0"/>
                </a:moveTo>
                <a:lnTo>
                  <a:pt x="2899646" y="0"/>
                </a:lnTo>
                <a:lnTo>
                  <a:pt x="2899646" y="925848"/>
                </a:lnTo>
                <a:lnTo>
                  <a:pt x="0" y="9258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5599089" y="800505"/>
            <a:ext cx="7089823" cy="1536527"/>
            <a:chOff x="0" y="0"/>
            <a:chExt cx="2189909" cy="474604"/>
          </a:xfrm>
        </p:grpSpPr>
        <p:sp>
          <p:nvSpPr>
            <p:cNvPr id="8" name="Freeform 8"/>
            <p:cNvSpPr/>
            <p:nvPr/>
          </p:nvSpPr>
          <p:spPr>
            <a:xfrm>
              <a:off x="0" y="0"/>
              <a:ext cx="2189909" cy="474604"/>
            </a:xfrm>
            <a:custGeom>
              <a:avLst/>
              <a:gdLst/>
              <a:ahLst/>
              <a:cxnLst/>
              <a:rect l="l" t="t" r="r" b="b"/>
              <a:pathLst>
                <a:path w="2189909" h="474604">
                  <a:moveTo>
                    <a:pt x="0" y="0"/>
                  </a:moveTo>
                  <a:lnTo>
                    <a:pt x="2189909" y="0"/>
                  </a:lnTo>
                  <a:lnTo>
                    <a:pt x="2189909"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9" name="TextBox 9"/>
            <p:cNvSpPr txBox="1"/>
            <p:nvPr/>
          </p:nvSpPr>
          <p:spPr>
            <a:xfrm>
              <a:off x="0" y="-38100"/>
              <a:ext cx="2189909" cy="512704"/>
            </a:xfrm>
            <a:prstGeom prst="rect">
              <a:avLst/>
            </a:prstGeom>
          </p:spPr>
          <p:txBody>
            <a:bodyPr lIns="50800" tIns="50800" rIns="50800" bIns="50800" rtlCol="0" anchor="ctr"/>
            <a:lstStyle/>
            <a:p>
              <a:pPr marL="0" lvl="0" indent="0" algn="ctr">
                <a:lnSpc>
                  <a:spcPts val="3384"/>
                </a:lnSpc>
              </a:pPr>
              <a:endParaRPr/>
            </a:p>
          </p:txBody>
        </p:sp>
      </p:grpSp>
      <p:sp>
        <p:nvSpPr>
          <p:cNvPr id="10" name="TextBox 10"/>
          <p:cNvSpPr txBox="1"/>
          <p:nvPr/>
        </p:nvSpPr>
        <p:spPr>
          <a:xfrm>
            <a:off x="6267450" y="1209675"/>
            <a:ext cx="5762625" cy="525795"/>
          </a:xfrm>
          <a:prstGeom prst="rect">
            <a:avLst/>
          </a:prstGeom>
        </p:spPr>
        <p:txBody>
          <a:bodyPr lIns="0" tIns="0" rIns="0" bIns="0" rtlCol="0" anchor="t">
            <a:spAutoFit/>
          </a:bodyPr>
          <a:lstStyle/>
          <a:p>
            <a:pPr marL="0" lvl="0" indent="0" algn="ctr">
              <a:lnSpc>
                <a:spcPts val="4146"/>
              </a:lnSpc>
              <a:spcBef>
                <a:spcPct val="0"/>
              </a:spcBef>
            </a:pPr>
            <a:r>
              <a:rPr lang="en-US" sz="3455" u="none" strike="noStrike">
                <a:solidFill>
                  <a:srgbClr val="FFFFFF"/>
                </a:solidFill>
                <a:latin typeface="Montserrat"/>
                <a:ea typeface="Montserrat"/>
                <a:cs typeface="Montserrat"/>
                <a:sym typeface="Montserrat"/>
              </a:rPr>
              <a:t>THAY ĐỔI SO VỚI GIỮA KỲ</a:t>
            </a:r>
          </a:p>
        </p:txBody>
      </p:sp>
      <p:grpSp>
        <p:nvGrpSpPr>
          <p:cNvPr id="11" name="Group 11"/>
          <p:cNvGrpSpPr/>
          <p:nvPr/>
        </p:nvGrpSpPr>
        <p:grpSpPr>
          <a:xfrm>
            <a:off x="453066" y="2687533"/>
            <a:ext cx="10292045" cy="1981640"/>
            <a:chOff x="0" y="0"/>
            <a:chExt cx="2710662" cy="521913"/>
          </a:xfrm>
        </p:grpSpPr>
        <p:sp>
          <p:nvSpPr>
            <p:cNvPr id="12" name="Freeform 12"/>
            <p:cNvSpPr/>
            <p:nvPr/>
          </p:nvSpPr>
          <p:spPr>
            <a:xfrm>
              <a:off x="0" y="0"/>
              <a:ext cx="2710662" cy="521913"/>
            </a:xfrm>
            <a:custGeom>
              <a:avLst/>
              <a:gdLst/>
              <a:ahLst/>
              <a:cxnLst/>
              <a:rect l="l" t="t" r="r" b="b"/>
              <a:pathLst>
                <a:path w="2710662" h="521913">
                  <a:moveTo>
                    <a:pt x="0" y="0"/>
                  </a:moveTo>
                  <a:lnTo>
                    <a:pt x="2710662" y="0"/>
                  </a:lnTo>
                  <a:lnTo>
                    <a:pt x="2710662" y="521913"/>
                  </a:lnTo>
                  <a:lnTo>
                    <a:pt x="0" y="521913"/>
                  </a:lnTo>
                  <a:close/>
                </a:path>
              </a:pathLst>
            </a:custGeom>
            <a:solidFill>
              <a:srgbClr val="FEFEFF"/>
            </a:solidFill>
            <a:ln w="38100" cap="sq">
              <a:solidFill>
                <a:srgbClr val="000000"/>
              </a:solidFill>
              <a:prstDash val="solid"/>
              <a:miter/>
            </a:ln>
          </p:spPr>
          <p:txBody>
            <a:bodyPr/>
            <a:lstStyle/>
            <a:p>
              <a:endParaRPr lang="en-US"/>
            </a:p>
          </p:txBody>
        </p:sp>
        <p:sp>
          <p:nvSpPr>
            <p:cNvPr id="13" name="TextBox 13"/>
            <p:cNvSpPr txBox="1"/>
            <p:nvPr/>
          </p:nvSpPr>
          <p:spPr>
            <a:xfrm>
              <a:off x="0" y="-38100"/>
              <a:ext cx="2710662" cy="560013"/>
            </a:xfrm>
            <a:prstGeom prst="rect">
              <a:avLst/>
            </a:prstGeom>
          </p:spPr>
          <p:txBody>
            <a:bodyPr lIns="50800" tIns="50800" rIns="50800" bIns="50800" rtlCol="0" anchor="ctr"/>
            <a:lstStyle/>
            <a:p>
              <a:pPr algn="ctr">
                <a:lnSpc>
                  <a:spcPts val="3384"/>
                </a:lnSpc>
              </a:pPr>
              <a:endParaRPr/>
            </a:p>
          </p:txBody>
        </p:sp>
      </p:grpSp>
      <p:sp>
        <p:nvSpPr>
          <p:cNvPr id="14" name="TextBox 14"/>
          <p:cNvSpPr txBox="1"/>
          <p:nvPr/>
        </p:nvSpPr>
        <p:spPr>
          <a:xfrm>
            <a:off x="1285875" y="3638550"/>
            <a:ext cx="9286875" cy="816610"/>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Chuẩn hóa subtype cho thiết bị (mobile_device, fixed_workstation) và máy chủ (physical_server, virtual_server). Thêm cột sinh security_eligible tự động kiểm tra điều kiện bảo mật thiết bị mobile dựa trên screen_lock và data_encryption.</a:t>
            </a:r>
          </a:p>
        </p:txBody>
      </p:sp>
      <p:grpSp>
        <p:nvGrpSpPr>
          <p:cNvPr id="15" name="Group 15"/>
          <p:cNvGrpSpPr/>
          <p:nvPr/>
        </p:nvGrpSpPr>
        <p:grpSpPr>
          <a:xfrm>
            <a:off x="453066" y="5039998"/>
            <a:ext cx="10292045" cy="1981640"/>
            <a:chOff x="0" y="0"/>
            <a:chExt cx="2710662" cy="521913"/>
          </a:xfrm>
        </p:grpSpPr>
        <p:sp>
          <p:nvSpPr>
            <p:cNvPr id="16" name="Freeform 16"/>
            <p:cNvSpPr/>
            <p:nvPr/>
          </p:nvSpPr>
          <p:spPr>
            <a:xfrm>
              <a:off x="0" y="0"/>
              <a:ext cx="2710662" cy="521913"/>
            </a:xfrm>
            <a:custGeom>
              <a:avLst/>
              <a:gdLst/>
              <a:ahLst/>
              <a:cxnLst/>
              <a:rect l="l" t="t" r="r" b="b"/>
              <a:pathLst>
                <a:path w="2710662" h="521913">
                  <a:moveTo>
                    <a:pt x="0" y="0"/>
                  </a:moveTo>
                  <a:lnTo>
                    <a:pt x="2710662" y="0"/>
                  </a:lnTo>
                  <a:lnTo>
                    <a:pt x="2710662" y="521913"/>
                  </a:lnTo>
                  <a:lnTo>
                    <a:pt x="0" y="521913"/>
                  </a:lnTo>
                  <a:close/>
                </a:path>
              </a:pathLst>
            </a:custGeom>
            <a:solidFill>
              <a:srgbClr val="FEFEFF"/>
            </a:solidFill>
            <a:ln w="38100" cap="sq">
              <a:solidFill>
                <a:srgbClr val="000000"/>
              </a:solidFill>
              <a:prstDash val="solid"/>
              <a:miter/>
            </a:ln>
          </p:spPr>
          <p:txBody>
            <a:bodyPr/>
            <a:lstStyle/>
            <a:p>
              <a:endParaRPr lang="en-US"/>
            </a:p>
          </p:txBody>
        </p:sp>
        <p:sp>
          <p:nvSpPr>
            <p:cNvPr id="17" name="TextBox 17"/>
            <p:cNvSpPr txBox="1"/>
            <p:nvPr/>
          </p:nvSpPr>
          <p:spPr>
            <a:xfrm>
              <a:off x="0" y="-38100"/>
              <a:ext cx="2710662" cy="560013"/>
            </a:xfrm>
            <a:prstGeom prst="rect">
              <a:avLst/>
            </a:prstGeom>
          </p:spPr>
          <p:txBody>
            <a:bodyPr lIns="50800" tIns="50800" rIns="50800" bIns="50800" rtlCol="0" anchor="ctr"/>
            <a:lstStyle/>
            <a:p>
              <a:pPr algn="ctr">
                <a:lnSpc>
                  <a:spcPts val="3384"/>
                </a:lnSpc>
              </a:pPr>
              <a:endParaRPr/>
            </a:p>
          </p:txBody>
        </p:sp>
      </p:grpSp>
      <p:sp>
        <p:nvSpPr>
          <p:cNvPr id="18" name="TextBox 18"/>
          <p:cNvSpPr txBox="1"/>
          <p:nvPr/>
        </p:nvSpPr>
        <p:spPr>
          <a:xfrm>
            <a:off x="1285875" y="5776702"/>
            <a:ext cx="9286875" cy="816610"/>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Thêm active_flag và unique key trên cặp (device_id, server_id, active_flag) để ngăn trùng quyền active. Thêm audit table device_server_access_audit, trigger ghi log khi cấp/thu hồi quyền, và event dọn dẹp log cũ (trạng thái DISABLE trong lab).</a:t>
            </a:r>
          </a:p>
        </p:txBody>
      </p:sp>
      <p:sp>
        <p:nvSpPr>
          <p:cNvPr id="19" name="TextBox 19"/>
          <p:cNvSpPr txBox="1"/>
          <p:nvPr/>
        </p:nvSpPr>
        <p:spPr>
          <a:xfrm>
            <a:off x="742950" y="3009900"/>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Chuẩn hóa &amp; Bổ sung cột mới</a:t>
            </a:r>
          </a:p>
        </p:txBody>
      </p:sp>
      <p:sp>
        <p:nvSpPr>
          <p:cNvPr id="20" name="TextBox 20"/>
          <p:cNvSpPr txBox="1"/>
          <p:nvPr/>
        </p:nvSpPr>
        <p:spPr>
          <a:xfrm>
            <a:off x="742950" y="5233777"/>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Ràng buộc &amp; Audit Log</a:t>
            </a:r>
          </a:p>
        </p:txBody>
      </p:sp>
      <p:grpSp>
        <p:nvGrpSpPr>
          <p:cNvPr id="21" name="Group 21"/>
          <p:cNvGrpSpPr/>
          <p:nvPr/>
        </p:nvGrpSpPr>
        <p:grpSpPr>
          <a:xfrm>
            <a:off x="11635770" y="2337032"/>
            <a:ext cx="5623530" cy="6921268"/>
            <a:chOff x="0" y="0"/>
            <a:chExt cx="660400" cy="812800"/>
          </a:xfrm>
        </p:grpSpPr>
        <p:sp>
          <p:nvSpPr>
            <p:cNvPr id="22" name="Freeform 22"/>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FFFFF"/>
            </a:solidFill>
            <a:ln w="114300" cap="sq">
              <a:solidFill>
                <a:srgbClr val="0F5679"/>
              </a:solidFill>
              <a:prstDash val="solid"/>
              <a:miter/>
            </a:ln>
          </p:spPr>
          <p:txBody>
            <a:bodyPr/>
            <a:lstStyle/>
            <a:p>
              <a:endParaRPr lang="en-US"/>
            </a:p>
          </p:txBody>
        </p:sp>
        <p:sp>
          <p:nvSpPr>
            <p:cNvPr id="23" name="TextBox 23"/>
            <p:cNvSpPr txBox="1"/>
            <p:nvPr/>
          </p:nvSpPr>
          <p:spPr>
            <a:xfrm>
              <a:off x="0" y="88900"/>
              <a:ext cx="660400" cy="723900"/>
            </a:xfrm>
            <a:prstGeom prst="rect">
              <a:avLst/>
            </a:prstGeom>
          </p:spPr>
          <p:txBody>
            <a:bodyPr lIns="50800" tIns="50800" rIns="50800" bIns="50800" rtlCol="0" anchor="ctr"/>
            <a:lstStyle/>
            <a:p>
              <a:pPr marL="0" lvl="0" indent="0" algn="ctr">
                <a:lnSpc>
                  <a:spcPts val="2928"/>
                </a:lnSpc>
              </a:pPr>
              <a:endParaRPr/>
            </a:p>
          </p:txBody>
        </p:sp>
      </p:grpSp>
      <p:grpSp>
        <p:nvGrpSpPr>
          <p:cNvPr id="24" name="Group 24"/>
          <p:cNvGrpSpPr/>
          <p:nvPr/>
        </p:nvGrpSpPr>
        <p:grpSpPr>
          <a:xfrm>
            <a:off x="11908100" y="2672208"/>
            <a:ext cx="5078869" cy="6250916"/>
            <a:chOff x="0" y="0"/>
            <a:chExt cx="660400" cy="812800"/>
          </a:xfrm>
        </p:grpSpPr>
        <p:sp>
          <p:nvSpPr>
            <p:cNvPr id="25" name="Freeform 25"/>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blipFill>
              <a:blip r:embed="rId5"/>
              <a:stretch>
                <a:fillRect/>
              </a:stretch>
            </a:blipFill>
          </p:spPr>
          <p:txBody>
            <a:bodyPr/>
            <a:lstStyle/>
            <a:p>
              <a:endParaRPr lang="en-US"/>
            </a:p>
          </p:txBody>
        </p:sp>
      </p:grpSp>
      <p:grpSp>
        <p:nvGrpSpPr>
          <p:cNvPr id="26" name="Group 26"/>
          <p:cNvGrpSpPr/>
          <p:nvPr/>
        </p:nvGrpSpPr>
        <p:grpSpPr>
          <a:xfrm>
            <a:off x="453066" y="7393113"/>
            <a:ext cx="10292045" cy="1981640"/>
            <a:chOff x="0" y="0"/>
            <a:chExt cx="2710662" cy="521913"/>
          </a:xfrm>
        </p:grpSpPr>
        <p:sp>
          <p:nvSpPr>
            <p:cNvPr id="27" name="Freeform 27"/>
            <p:cNvSpPr/>
            <p:nvPr/>
          </p:nvSpPr>
          <p:spPr>
            <a:xfrm>
              <a:off x="0" y="0"/>
              <a:ext cx="2710662" cy="521913"/>
            </a:xfrm>
            <a:custGeom>
              <a:avLst/>
              <a:gdLst/>
              <a:ahLst/>
              <a:cxnLst/>
              <a:rect l="l" t="t" r="r" b="b"/>
              <a:pathLst>
                <a:path w="2710662" h="521913">
                  <a:moveTo>
                    <a:pt x="0" y="0"/>
                  </a:moveTo>
                  <a:lnTo>
                    <a:pt x="2710662" y="0"/>
                  </a:lnTo>
                  <a:lnTo>
                    <a:pt x="2710662" y="521913"/>
                  </a:lnTo>
                  <a:lnTo>
                    <a:pt x="0" y="521913"/>
                  </a:lnTo>
                  <a:close/>
                </a:path>
              </a:pathLst>
            </a:custGeom>
            <a:solidFill>
              <a:srgbClr val="FEFEFF"/>
            </a:solidFill>
            <a:ln w="38100" cap="sq">
              <a:solidFill>
                <a:srgbClr val="000000"/>
              </a:solidFill>
              <a:prstDash val="solid"/>
              <a:miter/>
            </a:ln>
          </p:spPr>
          <p:txBody>
            <a:bodyPr/>
            <a:lstStyle/>
            <a:p>
              <a:endParaRPr lang="en-US"/>
            </a:p>
          </p:txBody>
        </p:sp>
        <p:sp>
          <p:nvSpPr>
            <p:cNvPr id="28" name="TextBox 28"/>
            <p:cNvSpPr txBox="1"/>
            <p:nvPr/>
          </p:nvSpPr>
          <p:spPr>
            <a:xfrm>
              <a:off x="0" y="-38100"/>
              <a:ext cx="2710662" cy="560013"/>
            </a:xfrm>
            <a:prstGeom prst="rect">
              <a:avLst/>
            </a:prstGeom>
          </p:spPr>
          <p:txBody>
            <a:bodyPr lIns="50800" tIns="50800" rIns="50800" bIns="50800" rtlCol="0" anchor="ctr"/>
            <a:lstStyle/>
            <a:p>
              <a:pPr algn="ctr">
                <a:lnSpc>
                  <a:spcPts val="3384"/>
                </a:lnSpc>
              </a:pPr>
              <a:endParaRPr/>
            </a:p>
          </p:txBody>
        </p:sp>
      </p:grpSp>
      <p:sp>
        <p:nvSpPr>
          <p:cNvPr id="29" name="TextBox 29"/>
          <p:cNvSpPr txBox="1"/>
          <p:nvPr/>
        </p:nvSpPr>
        <p:spPr>
          <a:xfrm>
            <a:off x="1285875" y="8095219"/>
            <a:ext cx="9286875" cy="816610"/>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Bổ sung index idx_dsa_server_revoked_device và idx_device_type_registered_staff để tối ưu truy vấn. Sử dụng EXPLAIN phân tích possible_keys, key, rows và Extra nhằm đảm bảo hiệu năng truy vấn trong môi trường MySQL local.</a:t>
            </a:r>
          </a:p>
        </p:txBody>
      </p:sp>
      <p:sp>
        <p:nvSpPr>
          <p:cNvPr id="30" name="TextBox 30"/>
          <p:cNvSpPr txBox="1"/>
          <p:nvPr/>
        </p:nvSpPr>
        <p:spPr>
          <a:xfrm>
            <a:off x="742950" y="7647544"/>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Index &amp; EXPLAIN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flipV="1">
            <a:off x="-910220" y="7963268"/>
            <a:ext cx="20108441" cy="11573824"/>
          </a:xfrm>
          <a:custGeom>
            <a:avLst/>
            <a:gdLst/>
            <a:ahLst/>
            <a:cxnLst/>
            <a:rect l="l" t="t" r="r" b="b"/>
            <a:pathLst>
              <a:path w="20108441" h="11573824">
                <a:moveTo>
                  <a:pt x="0" y="11573824"/>
                </a:moveTo>
                <a:lnTo>
                  <a:pt x="20108440" y="11573824"/>
                </a:lnTo>
                <a:lnTo>
                  <a:pt x="20108440" y="0"/>
                </a:lnTo>
                <a:lnTo>
                  <a:pt x="0" y="0"/>
                </a:lnTo>
                <a:lnTo>
                  <a:pt x="0" y="11573824"/>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4" name="Freeform 4"/>
          <p:cNvSpPr/>
          <p:nvPr/>
        </p:nvSpPr>
        <p:spPr>
          <a:xfrm flipH="1">
            <a:off x="-910220" y="-4218144"/>
            <a:ext cx="20108441" cy="11573824"/>
          </a:xfrm>
          <a:custGeom>
            <a:avLst/>
            <a:gdLst/>
            <a:ahLst/>
            <a:cxnLst/>
            <a:rect l="l" t="t" r="r" b="b"/>
            <a:pathLst>
              <a:path w="20108441" h="11573824">
                <a:moveTo>
                  <a:pt x="20108440" y="0"/>
                </a:moveTo>
                <a:lnTo>
                  <a:pt x="0" y="0"/>
                </a:lnTo>
                <a:lnTo>
                  <a:pt x="0" y="11573825"/>
                </a:lnTo>
                <a:lnTo>
                  <a:pt x="20108440" y="11573825"/>
                </a:lnTo>
                <a:lnTo>
                  <a:pt x="2010844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5" name="Freeform 5"/>
          <p:cNvSpPr/>
          <p:nvPr/>
        </p:nvSpPr>
        <p:spPr>
          <a:xfrm>
            <a:off x="-910220" y="2525597"/>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3662816" y="7465410"/>
            <a:ext cx="2899646" cy="925848"/>
          </a:xfrm>
          <a:custGeom>
            <a:avLst/>
            <a:gdLst/>
            <a:ahLst/>
            <a:cxnLst/>
            <a:rect l="l" t="t" r="r" b="b"/>
            <a:pathLst>
              <a:path w="2899646" h="925848">
                <a:moveTo>
                  <a:pt x="0" y="0"/>
                </a:moveTo>
                <a:lnTo>
                  <a:pt x="2899646" y="0"/>
                </a:lnTo>
                <a:lnTo>
                  <a:pt x="2899646" y="925848"/>
                </a:lnTo>
                <a:lnTo>
                  <a:pt x="0" y="9258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4291193" y="800505"/>
            <a:ext cx="9705615" cy="1536527"/>
            <a:chOff x="0" y="0"/>
            <a:chExt cx="2997877" cy="474604"/>
          </a:xfrm>
        </p:grpSpPr>
        <p:sp>
          <p:nvSpPr>
            <p:cNvPr id="8" name="Freeform 8"/>
            <p:cNvSpPr/>
            <p:nvPr/>
          </p:nvSpPr>
          <p:spPr>
            <a:xfrm>
              <a:off x="0" y="0"/>
              <a:ext cx="2997877" cy="474604"/>
            </a:xfrm>
            <a:custGeom>
              <a:avLst/>
              <a:gdLst/>
              <a:ahLst/>
              <a:cxnLst/>
              <a:rect l="l" t="t" r="r" b="b"/>
              <a:pathLst>
                <a:path w="2997877" h="474604">
                  <a:moveTo>
                    <a:pt x="0" y="0"/>
                  </a:moveTo>
                  <a:lnTo>
                    <a:pt x="2997877" y="0"/>
                  </a:lnTo>
                  <a:lnTo>
                    <a:pt x="2997877"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9" name="TextBox 9"/>
            <p:cNvSpPr txBox="1"/>
            <p:nvPr/>
          </p:nvSpPr>
          <p:spPr>
            <a:xfrm>
              <a:off x="0" y="-38100"/>
              <a:ext cx="2997877" cy="512704"/>
            </a:xfrm>
            <a:prstGeom prst="rect">
              <a:avLst/>
            </a:prstGeom>
          </p:spPr>
          <p:txBody>
            <a:bodyPr lIns="50800" tIns="50800" rIns="50800" bIns="50800" rtlCol="0" anchor="ctr"/>
            <a:lstStyle/>
            <a:p>
              <a:pPr marL="0" lvl="0" indent="0" algn="ctr">
                <a:lnSpc>
                  <a:spcPts val="3384"/>
                </a:lnSpc>
              </a:pPr>
              <a:endParaRPr/>
            </a:p>
          </p:txBody>
        </p:sp>
      </p:grpSp>
      <p:grpSp>
        <p:nvGrpSpPr>
          <p:cNvPr id="10" name="Group 10"/>
          <p:cNvGrpSpPr/>
          <p:nvPr/>
        </p:nvGrpSpPr>
        <p:grpSpPr>
          <a:xfrm>
            <a:off x="7305964" y="2950513"/>
            <a:ext cx="9672657" cy="1901379"/>
            <a:chOff x="0" y="0"/>
            <a:chExt cx="2886368" cy="567381"/>
          </a:xfrm>
        </p:grpSpPr>
        <p:sp>
          <p:nvSpPr>
            <p:cNvPr id="11" name="Freeform 11"/>
            <p:cNvSpPr/>
            <p:nvPr/>
          </p:nvSpPr>
          <p:spPr>
            <a:xfrm>
              <a:off x="0" y="0"/>
              <a:ext cx="2886368" cy="567381"/>
            </a:xfrm>
            <a:custGeom>
              <a:avLst/>
              <a:gdLst/>
              <a:ahLst/>
              <a:cxnLst/>
              <a:rect l="l" t="t" r="r" b="b"/>
              <a:pathLst>
                <a:path w="2886368" h="567381">
                  <a:moveTo>
                    <a:pt x="0" y="0"/>
                  </a:moveTo>
                  <a:lnTo>
                    <a:pt x="2886368" y="0"/>
                  </a:lnTo>
                  <a:lnTo>
                    <a:pt x="2886368" y="567381"/>
                  </a:lnTo>
                  <a:lnTo>
                    <a:pt x="0" y="567381"/>
                  </a:lnTo>
                  <a:close/>
                </a:path>
              </a:pathLst>
            </a:custGeom>
            <a:solidFill>
              <a:srgbClr val="0F5679"/>
            </a:solidFill>
            <a:ln w="47625" cap="sq">
              <a:solidFill>
                <a:srgbClr val="FFFFFF"/>
              </a:solidFill>
              <a:prstDash val="solid"/>
              <a:miter/>
            </a:ln>
          </p:spPr>
          <p:txBody>
            <a:bodyPr/>
            <a:lstStyle/>
            <a:p>
              <a:endParaRPr lang="en-US"/>
            </a:p>
          </p:txBody>
        </p:sp>
        <p:sp>
          <p:nvSpPr>
            <p:cNvPr id="12" name="TextBox 12"/>
            <p:cNvSpPr txBox="1"/>
            <p:nvPr/>
          </p:nvSpPr>
          <p:spPr>
            <a:xfrm>
              <a:off x="0" y="-38100"/>
              <a:ext cx="2886368" cy="605481"/>
            </a:xfrm>
            <a:prstGeom prst="rect">
              <a:avLst/>
            </a:prstGeom>
          </p:spPr>
          <p:txBody>
            <a:bodyPr lIns="50800" tIns="50800" rIns="50800" bIns="50800" rtlCol="0" anchor="ctr"/>
            <a:lstStyle/>
            <a:p>
              <a:pPr marL="0" lvl="0" indent="0" algn="ctr">
                <a:lnSpc>
                  <a:spcPts val="3384"/>
                </a:lnSpc>
              </a:pPr>
              <a:endParaRPr/>
            </a:p>
          </p:txBody>
        </p:sp>
      </p:grpSp>
      <p:grpSp>
        <p:nvGrpSpPr>
          <p:cNvPr id="13" name="Group 13"/>
          <p:cNvGrpSpPr/>
          <p:nvPr/>
        </p:nvGrpSpPr>
        <p:grpSpPr>
          <a:xfrm>
            <a:off x="7305964" y="5027764"/>
            <a:ext cx="9672657" cy="1901379"/>
            <a:chOff x="0" y="0"/>
            <a:chExt cx="2886368" cy="567381"/>
          </a:xfrm>
        </p:grpSpPr>
        <p:sp>
          <p:nvSpPr>
            <p:cNvPr id="14" name="Freeform 14"/>
            <p:cNvSpPr/>
            <p:nvPr/>
          </p:nvSpPr>
          <p:spPr>
            <a:xfrm>
              <a:off x="0" y="0"/>
              <a:ext cx="2886368" cy="567381"/>
            </a:xfrm>
            <a:custGeom>
              <a:avLst/>
              <a:gdLst/>
              <a:ahLst/>
              <a:cxnLst/>
              <a:rect l="l" t="t" r="r" b="b"/>
              <a:pathLst>
                <a:path w="2886368" h="567381">
                  <a:moveTo>
                    <a:pt x="0" y="0"/>
                  </a:moveTo>
                  <a:lnTo>
                    <a:pt x="2886368" y="0"/>
                  </a:lnTo>
                  <a:lnTo>
                    <a:pt x="2886368" y="567381"/>
                  </a:lnTo>
                  <a:lnTo>
                    <a:pt x="0" y="567381"/>
                  </a:lnTo>
                  <a:close/>
                </a:path>
              </a:pathLst>
            </a:custGeom>
            <a:solidFill>
              <a:srgbClr val="0F5679"/>
            </a:solidFill>
            <a:ln w="47625" cap="sq">
              <a:solidFill>
                <a:srgbClr val="FFFFFF"/>
              </a:solidFill>
              <a:prstDash val="solid"/>
              <a:miter/>
            </a:ln>
          </p:spPr>
          <p:txBody>
            <a:bodyPr/>
            <a:lstStyle/>
            <a:p>
              <a:endParaRPr lang="en-US"/>
            </a:p>
          </p:txBody>
        </p:sp>
        <p:sp>
          <p:nvSpPr>
            <p:cNvPr id="15" name="TextBox 15"/>
            <p:cNvSpPr txBox="1"/>
            <p:nvPr/>
          </p:nvSpPr>
          <p:spPr>
            <a:xfrm>
              <a:off x="0" y="-38100"/>
              <a:ext cx="2886368" cy="605481"/>
            </a:xfrm>
            <a:prstGeom prst="rect">
              <a:avLst/>
            </a:prstGeom>
          </p:spPr>
          <p:txBody>
            <a:bodyPr lIns="50800" tIns="50800" rIns="50800" bIns="50800" rtlCol="0" anchor="ctr"/>
            <a:lstStyle/>
            <a:p>
              <a:pPr marL="0" lvl="0" indent="0" algn="ctr">
                <a:lnSpc>
                  <a:spcPts val="3384"/>
                </a:lnSpc>
              </a:pPr>
              <a:endParaRPr/>
            </a:p>
          </p:txBody>
        </p:sp>
      </p:grpSp>
      <p:grpSp>
        <p:nvGrpSpPr>
          <p:cNvPr id="16" name="Group 16"/>
          <p:cNvGrpSpPr/>
          <p:nvPr/>
        </p:nvGrpSpPr>
        <p:grpSpPr>
          <a:xfrm>
            <a:off x="1028700" y="2950513"/>
            <a:ext cx="5268232" cy="5268232"/>
            <a:chOff x="0" y="0"/>
            <a:chExt cx="812800" cy="812800"/>
          </a:xfrm>
        </p:grpSpPr>
        <p:sp>
          <p:nvSpPr>
            <p:cNvPr id="17" name="Freeform 17"/>
            <p:cNvSpPr/>
            <p:nvPr/>
          </p:nvSpPr>
          <p:spPr>
            <a:xfrm>
              <a:off x="0" y="0"/>
              <a:ext cx="812800" cy="812800"/>
            </a:xfrm>
            <a:custGeom>
              <a:avLst/>
              <a:gdLst/>
              <a:ahLst/>
              <a:cxnLst/>
              <a:rect l="l" t="t" r="r" b="b"/>
              <a:pathLst>
                <a:path w="812800" h="812800">
                  <a:moveTo>
                    <a:pt x="812800" y="0"/>
                  </a:moveTo>
                  <a:lnTo>
                    <a:pt x="0" y="0"/>
                  </a:lnTo>
                  <a:lnTo>
                    <a:pt x="0" y="624840"/>
                  </a:lnTo>
                  <a:lnTo>
                    <a:pt x="157480" y="624840"/>
                  </a:lnTo>
                  <a:lnTo>
                    <a:pt x="157480" y="812800"/>
                  </a:lnTo>
                  <a:lnTo>
                    <a:pt x="463550" y="624840"/>
                  </a:lnTo>
                  <a:lnTo>
                    <a:pt x="812800" y="624840"/>
                  </a:lnTo>
                  <a:lnTo>
                    <a:pt x="812800" y="0"/>
                  </a:lnTo>
                  <a:close/>
                </a:path>
              </a:pathLst>
            </a:custGeom>
            <a:solidFill>
              <a:srgbClr val="FFFFFF"/>
            </a:solidFill>
            <a:ln w="114300" cap="sq">
              <a:solidFill>
                <a:srgbClr val="0F5679"/>
              </a:solidFill>
              <a:prstDash val="solid"/>
              <a:miter/>
            </a:ln>
          </p:spPr>
          <p:txBody>
            <a:bodyPr/>
            <a:lstStyle/>
            <a:p>
              <a:endParaRPr lang="en-US"/>
            </a:p>
          </p:txBody>
        </p:sp>
        <p:sp>
          <p:nvSpPr>
            <p:cNvPr id="18" name="TextBox 18"/>
            <p:cNvSpPr txBox="1"/>
            <p:nvPr/>
          </p:nvSpPr>
          <p:spPr>
            <a:xfrm>
              <a:off x="0" y="-38100"/>
              <a:ext cx="812800" cy="660400"/>
            </a:xfrm>
            <a:prstGeom prst="rect">
              <a:avLst/>
            </a:prstGeom>
          </p:spPr>
          <p:txBody>
            <a:bodyPr lIns="50800" tIns="50800" rIns="50800" bIns="50800" rtlCol="0" anchor="ctr"/>
            <a:lstStyle/>
            <a:p>
              <a:pPr marL="0" lvl="0" indent="0" algn="ctr">
                <a:lnSpc>
                  <a:spcPts val="3384"/>
                </a:lnSpc>
              </a:pPr>
              <a:endParaRPr/>
            </a:p>
          </p:txBody>
        </p:sp>
      </p:grpSp>
      <p:grpSp>
        <p:nvGrpSpPr>
          <p:cNvPr id="19" name="Group 19"/>
          <p:cNvGrpSpPr/>
          <p:nvPr/>
        </p:nvGrpSpPr>
        <p:grpSpPr>
          <a:xfrm>
            <a:off x="1373990" y="3347413"/>
            <a:ext cx="4577652" cy="3119305"/>
            <a:chOff x="0" y="0"/>
            <a:chExt cx="709198" cy="483262"/>
          </a:xfrm>
        </p:grpSpPr>
        <p:sp>
          <p:nvSpPr>
            <p:cNvPr id="20" name="Freeform 20"/>
            <p:cNvSpPr/>
            <p:nvPr/>
          </p:nvSpPr>
          <p:spPr>
            <a:xfrm>
              <a:off x="0" y="0"/>
              <a:ext cx="709198" cy="483262"/>
            </a:xfrm>
            <a:custGeom>
              <a:avLst/>
              <a:gdLst/>
              <a:ahLst/>
              <a:cxnLst/>
              <a:rect l="l" t="t" r="r" b="b"/>
              <a:pathLst>
                <a:path w="709198" h="483262">
                  <a:moveTo>
                    <a:pt x="0" y="0"/>
                  </a:moveTo>
                  <a:lnTo>
                    <a:pt x="709198" y="0"/>
                  </a:lnTo>
                  <a:lnTo>
                    <a:pt x="709198" y="483262"/>
                  </a:lnTo>
                  <a:lnTo>
                    <a:pt x="0" y="483262"/>
                  </a:lnTo>
                  <a:close/>
                </a:path>
              </a:pathLst>
            </a:custGeom>
            <a:blipFill>
              <a:blip r:embed="rId5"/>
              <a:stretch>
                <a:fillRect l="-12" r="-12"/>
              </a:stretch>
            </a:blipFill>
          </p:spPr>
          <p:txBody>
            <a:bodyPr/>
            <a:lstStyle/>
            <a:p>
              <a:endParaRPr lang="en-US"/>
            </a:p>
          </p:txBody>
        </p:sp>
      </p:grpSp>
      <p:sp>
        <p:nvSpPr>
          <p:cNvPr id="21" name="TextBox 21"/>
          <p:cNvSpPr txBox="1"/>
          <p:nvPr/>
        </p:nvSpPr>
        <p:spPr>
          <a:xfrm>
            <a:off x="4638675" y="1209675"/>
            <a:ext cx="9010650" cy="600401"/>
          </a:xfrm>
          <a:prstGeom prst="rect">
            <a:avLst/>
          </a:prstGeom>
        </p:spPr>
        <p:txBody>
          <a:bodyPr lIns="0" tIns="0" rIns="0" bIns="0" rtlCol="0" anchor="t">
            <a:spAutoFit/>
          </a:bodyPr>
          <a:lstStyle/>
          <a:p>
            <a:pPr marL="0" lvl="0" indent="0" algn="ctr">
              <a:lnSpc>
                <a:spcPts val="4734"/>
              </a:lnSpc>
              <a:spcBef>
                <a:spcPct val="0"/>
              </a:spcBef>
            </a:pPr>
            <a:r>
              <a:rPr lang="en-US" sz="3945" u="none" strike="noStrike">
                <a:solidFill>
                  <a:srgbClr val="FFFFFF"/>
                </a:solidFill>
                <a:latin typeface="Montserrat"/>
                <a:ea typeface="Montserrat"/>
                <a:cs typeface="Montserrat"/>
                <a:sym typeface="Montserrat"/>
              </a:rPr>
              <a:t>QUY TẮC NGHIỆP VỤ QUAN TRỌNG</a:t>
            </a:r>
          </a:p>
        </p:txBody>
      </p:sp>
      <p:sp>
        <p:nvSpPr>
          <p:cNvPr id="22" name="TextBox 22"/>
          <p:cNvSpPr txBox="1"/>
          <p:nvPr/>
        </p:nvSpPr>
        <p:spPr>
          <a:xfrm>
            <a:off x="8115300" y="3733800"/>
            <a:ext cx="8058150" cy="884042"/>
          </a:xfrm>
          <a:prstGeom prst="rect">
            <a:avLst/>
          </a:prstGeom>
        </p:spPr>
        <p:txBody>
          <a:bodyPr lIns="0" tIns="0" rIns="0" bIns="0" rtlCol="0" anchor="t">
            <a:spAutoFit/>
          </a:bodyPr>
          <a:lstStyle/>
          <a:p>
            <a:pPr marL="0" lvl="0" indent="0" algn="l">
              <a:lnSpc>
                <a:spcPts val="2351"/>
              </a:lnSpc>
              <a:spcBef>
                <a:spcPct val="0"/>
              </a:spcBef>
            </a:pPr>
            <a:r>
              <a:rPr lang="en-US" sz="1679" u="none" strike="noStrike">
                <a:solidFill>
                  <a:srgbClr val="FFFFFF"/>
                </a:solidFill>
                <a:latin typeface="Open Sans"/>
                <a:ea typeface="Open Sans"/>
                <a:cs typeface="Open Sans"/>
                <a:sym typeface="Open Sans"/>
              </a:rPr>
              <a:t>Mobile device chỉ được cấp quyền truy cập máy chủ khi đáp ứng đồng thời hai điều kiện bảo mật: bật screen lock và bật data encryption. Kiểm tra qua cột sinh security_eligible trong bảng mobile_device.</a:t>
            </a:r>
          </a:p>
        </p:txBody>
      </p:sp>
      <p:sp>
        <p:nvSpPr>
          <p:cNvPr id="23" name="TextBox 23"/>
          <p:cNvSpPr txBox="1"/>
          <p:nvPr/>
        </p:nvSpPr>
        <p:spPr>
          <a:xfrm>
            <a:off x="8115300" y="5810250"/>
            <a:ext cx="8058150" cy="884042"/>
          </a:xfrm>
          <a:prstGeom prst="rect">
            <a:avLst/>
          </a:prstGeom>
        </p:spPr>
        <p:txBody>
          <a:bodyPr lIns="0" tIns="0" rIns="0" bIns="0" rtlCol="0" anchor="t">
            <a:spAutoFit/>
          </a:bodyPr>
          <a:lstStyle/>
          <a:p>
            <a:pPr marL="0" lvl="0" indent="0" algn="l">
              <a:lnSpc>
                <a:spcPts val="2351"/>
              </a:lnSpc>
              <a:spcBef>
                <a:spcPct val="0"/>
              </a:spcBef>
            </a:pPr>
            <a:r>
              <a:rPr lang="en-US" sz="1679" u="none" strike="noStrike">
                <a:solidFill>
                  <a:srgbClr val="FFFFFF"/>
                </a:solidFill>
                <a:latin typeface="Open Sans"/>
                <a:ea typeface="Open Sans"/>
                <a:cs typeface="Open Sans"/>
                <a:sym typeface="Open Sans"/>
              </a:rPr>
              <a:t>Mỗi cặp thiết bị - máy chủ chỉ được phép tồn tại một quyền truy cập ở trạng thái active tại một thời điểm. Ràng buộc được đảm bảo bằng unique key kết hợp active_flag trong bảng device_server_access.</a:t>
            </a:r>
          </a:p>
        </p:txBody>
      </p:sp>
      <p:sp>
        <p:nvSpPr>
          <p:cNvPr id="24" name="TextBox 24"/>
          <p:cNvSpPr txBox="1"/>
          <p:nvPr/>
        </p:nvSpPr>
        <p:spPr>
          <a:xfrm>
            <a:off x="7410450" y="3181350"/>
            <a:ext cx="6848475" cy="500832"/>
          </a:xfrm>
          <a:prstGeom prst="rect">
            <a:avLst/>
          </a:prstGeom>
        </p:spPr>
        <p:txBody>
          <a:bodyPr lIns="0" tIns="0" rIns="0" bIns="0" rtlCol="0" anchor="t">
            <a:spAutoFit/>
          </a:bodyPr>
          <a:lstStyle/>
          <a:p>
            <a:pPr marL="0" lvl="0" indent="0" algn="l">
              <a:lnSpc>
                <a:spcPts val="4115"/>
              </a:lnSpc>
              <a:spcBef>
                <a:spcPct val="0"/>
              </a:spcBef>
            </a:pPr>
            <a:r>
              <a:rPr lang="en-US" sz="2939" u="none" strike="noStrike">
                <a:solidFill>
                  <a:srgbClr val="FFFFFF"/>
                </a:solidFill>
                <a:latin typeface="Montserrat"/>
                <a:ea typeface="Montserrat"/>
                <a:cs typeface="Montserrat"/>
                <a:sym typeface="Montserrat"/>
              </a:rPr>
              <a:t>BR08: Bảo Mật Thiết Bị Di Động</a:t>
            </a:r>
          </a:p>
        </p:txBody>
      </p:sp>
      <p:sp>
        <p:nvSpPr>
          <p:cNvPr id="25" name="TextBox 25"/>
          <p:cNvSpPr txBox="1"/>
          <p:nvPr/>
        </p:nvSpPr>
        <p:spPr>
          <a:xfrm>
            <a:off x="7410450" y="5257800"/>
            <a:ext cx="6848475" cy="500832"/>
          </a:xfrm>
          <a:prstGeom prst="rect">
            <a:avLst/>
          </a:prstGeom>
        </p:spPr>
        <p:txBody>
          <a:bodyPr lIns="0" tIns="0" rIns="0" bIns="0" rtlCol="0" anchor="t">
            <a:spAutoFit/>
          </a:bodyPr>
          <a:lstStyle/>
          <a:p>
            <a:pPr marL="0" lvl="0" indent="0" algn="l">
              <a:lnSpc>
                <a:spcPts val="4115"/>
              </a:lnSpc>
              <a:spcBef>
                <a:spcPct val="0"/>
              </a:spcBef>
            </a:pPr>
            <a:r>
              <a:rPr lang="en-US" sz="2939" u="none" strike="noStrike">
                <a:solidFill>
                  <a:srgbClr val="FFFFFF"/>
                </a:solidFill>
                <a:latin typeface="Montserrat"/>
                <a:ea typeface="Montserrat"/>
                <a:cs typeface="Montserrat"/>
                <a:sym typeface="Montserrat"/>
              </a:rPr>
              <a:t>BR09: Quyền Truy Cập Duy Nhất</a:t>
            </a:r>
          </a:p>
        </p:txBody>
      </p:sp>
      <p:grpSp>
        <p:nvGrpSpPr>
          <p:cNvPr id="26" name="Group 26"/>
          <p:cNvGrpSpPr/>
          <p:nvPr/>
        </p:nvGrpSpPr>
        <p:grpSpPr>
          <a:xfrm>
            <a:off x="7305964" y="7105014"/>
            <a:ext cx="9672657" cy="1901379"/>
            <a:chOff x="0" y="0"/>
            <a:chExt cx="2886368" cy="567381"/>
          </a:xfrm>
        </p:grpSpPr>
        <p:sp>
          <p:nvSpPr>
            <p:cNvPr id="27" name="Freeform 27"/>
            <p:cNvSpPr/>
            <p:nvPr/>
          </p:nvSpPr>
          <p:spPr>
            <a:xfrm>
              <a:off x="0" y="0"/>
              <a:ext cx="2886368" cy="567381"/>
            </a:xfrm>
            <a:custGeom>
              <a:avLst/>
              <a:gdLst/>
              <a:ahLst/>
              <a:cxnLst/>
              <a:rect l="l" t="t" r="r" b="b"/>
              <a:pathLst>
                <a:path w="2886368" h="567381">
                  <a:moveTo>
                    <a:pt x="0" y="0"/>
                  </a:moveTo>
                  <a:lnTo>
                    <a:pt x="2886368" y="0"/>
                  </a:lnTo>
                  <a:lnTo>
                    <a:pt x="2886368" y="567381"/>
                  </a:lnTo>
                  <a:lnTo>
                    <a:pt x="0" y="567381"/>
                  </a:lnTo>
                  <a:close/>
                </a:path>
              </a:pathLst>
            </a:custGeom>
            <a:solidFill>
              <a:srgbClr val="0F5679"/>
            </a:solidFill>
            <a:ln w="47625" cap="sq">
              <a:solidFill>
                <a:srgbClr val="FFFFFF"/>
              </a:solidFill>
              <a:prstDash val="solid"/>
              <a:miter/>
            </a:ln>
          </p:spPr>
          <p:txBody>
            <a:bodyPr/>
            <a:lstStyle/>
            <a:p>
              <a:endParaRPr lang="en-US"/>
            </a:p>
          </p:txBody>
        </p:sp>
        <p:sp>
          <p:nvSpPr>
            <p:cNvPr id="28" name="TextBox 28"/>
            <p:cNvSpPr txBox="1"/>
            <p:nvPr/>
          </p:nvSpPr>
          <p:spPr>
            <a:xfrm>
              <a:off x="0" y="-38100"/>
              <a:ext cx="2886368" cy="605481"/>
            </a:xfrm>
            <a:prstGeom prst="rect">
              <a:avLst/>
            </a:prstGeom>
          </p:spPr>
          <p:txBody>
            <a:bodyPr lIns="50800" tIns="50800" rIns="50800" bIns="50800" rtlCol="0" anchor="ctr"/>
            <a:lstStyle/>
            <a:p>
              <a:pPr marL="0" lvl="0" indent="0" algn="ctr">
                <a:lnSpc>
                  <a:spcPts val="3384"/>
                </a:lnSpc>
              </a:pPr>
              <a:endParaRPr/>
            </a:p>
          </p:txBody>
        </p:sp>
      </p:grpSp>
      <p:sp>
        <p:nvSpPr>
          <p:cNvPr id="29" name="TextBox 29"/>
          <p:cNvSpPr txBox="1"/>
          <p:nvPr/>
        </p:nvSpPr>
        <p:spPr>
          <a:xfrm>
            <a:off x="8115300" y="7886700"/>
            <a:ext cx="8058150" cy="884042"/>
          </a:xfrm>
          <a:prstGeom prst="rect">
            <a:avLst/>
          </a:prstGeom>
        </p:spPr>
        <p:txBody>
          <a:bodyPr lIns="0" tIns="0" rIns="0" bIns="0" rtlCol="0" anchor="t">
            <a:spAutoFit/>
          </a:bodyPr>
          <a:lstStyle/>
          <a:p>
            <a:pPr marL="0" lvl="0" indent="0" algn="l">
              <a:lnSpc>
                <a:spcPts val="2351"/>
              </a:lnSpc>
              <a:spcBef>
                <a:spcPct val="0"/>
              </a:spcBef>
            </a:pPr>
            <a:r>
              <a:rPr lang="en-US" sz="1679" u="none" strike="noStrike">
                <a:solidFill>
                  <a:srgbClr val="FFFFFF"/>
                </a:solidFill>
                <a:latin typeface="Open Sans"/>
                <a:ea typeface="Open Sans"/>
                <a:cs typeface="Open Sans"/>
                <a:sym typeface="Open Sans"/>
              </a:rPr>
              <a:t>BR10: Toàn bộ lịch sử cấp/thu hồi quyền phải được ghi lại đầy đủ qua trigger audit. BR13: Nhân sự bắt buộc phải có tài khoản hệ thống trước khi được cấp quyền sử dụng dịch vụ nội bộ.</a:t>
            </a:r>
          </a:p>
        </p:txBody>
      </p:sp>
      <p:sp>
        <p:nvSpPr>
          <p:cNvPr id="30" name="TextBox 30"/>
          <p:cNvSpPr txBox="1"/>
          <p:nvPr/>
        </p:nvSpPr>
        <p:spPr>
          <a:xfrm>
            <a:off x="7410450" y="7334250"/>
            <a:ext cx="6848475" cy="500832"/>
          </a:xfrm>
          <a:prstGeom prst="rect">
            <a:avLst/>
          </a:prstGeom>
        </p:spPr>
        <p:txBody>
          <a:bodyPr lIns="0" tIns="0" rIns="0" bIns="0" rtlCol="0" anchor="t">
            <a:spAutoFit/>
          </a:bodyPr>
          <a:lstStyle/>
          <a:p>
            <a:pPr marL="0" lvl="0" indent="0" algn="l">
              <a:lnSpc>
                <a:spcPts val="4115"/>
              </a:lnSpc>
              <a:spcBef>
                <a:spcPct val="0"/>
              </a:spcBef>
            </a:pPr>
            <a:r>
              <a:rPr lang="en-US" sz="2939" u="none" strike="noStrike">
                <a:solidFill>
                  <a:srgbClr val="FFFFFF"/>
                </a:solidFill>
                <a:latin typeface="Montserrat"/>
                <a:ea typeface="Montserrat"/>
                <a:cs typeface="Montserrat"/>
                <a:sym typeface="Montserrat"/>
              </a:rPr>
              <a:t>BR10 &amp; BR13: Audit Log &amp; Tài Khoản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grpSp>
        <p:nvGrpSpPr>
          <p:cNvPr id="3" name="Group 3"/>
          <p:cNvGrpSpPr/>
          <p:nvPr/>
        </p:nvGrpSpPr>
        <p:grpSpPr>
          <a:xfrm>
            <a:off x="8404780" y="5143500"/>
            <a:ext cx="8307619" cy="1959332"/>
            <a:chOff x="0" y="0"/>
            <a:chExt cx="2188015" cy="516038"/>
          </a:xfrm>
        </p:grpSpPr>
        <p:sp>
          <p:nvSpPr>
            <p:cNvPr id="4" name="Freeform 4"/>
            <p:cNvSpPr/>
            <p:nvPr/>
          </p:nvSpPr>
          <p:spPr>
            <a:xfrm>
              <a:off x="0" y="0"/>
              <a:ext cx="2188015" cy="516038"/>
            </a:xfrm>
            <a:custGeom>
              <a:avLst/>
              <a:gdLst/>
              <a:ahLst/>
              <a:cxnLst/>
              <a:rect l="l" t="t" r="r" b="b"/>
              <a:pathLst>
                <a:path w="2188015" h="516038">
                  <a:moveTo>
                    <a:pt x="0" y="0"/>
                  </a:moveTo>
                  <a:lnTo>
                    <a:pt x="2188015" y="0"/>
                  </a:lnTo>
                  <a:lnTo>
                    <a:pt x="2188015" y="516038"/>
                  </a:lnTo>
                  <a:lnTo>
                    <a:pt x="0" y="516038"/>
                  </a:lnTo>
                  <a:close/>
                </a:path>
              </a:pathLst>
            </a:custGeom>
            <a:solidFill>
              <a:srgbClr val="FEFEFF"/>
            </a:solidFill>
            <a:ln w="38100" cap="sq">
              <a:solidFill>
                <a:srgbClr val="000000"/>
              </a:solidFill>
              <a:prstDash val="solid"/>
              <a:miter/>
            </a:ln>
          </p:spPr>
          <p:txBody>
            <a:bodyPr/>
            <a:lstStyle/>
            <a:p>
              <a:endParaRPr lang="en-US"/>
            </a:p>
          </p:txBody>
        </p:sp>
        <p:sp>
          <p:nvSpPr>
            <p:cNvPr id="5" name="TextBox 5"/>
            <p:cNvSpPr txBox="1"/>
            <p:nvPr/>
          </p:nvSpPr>
          <p:spPr>
            <a:xfrm>
              <a:off x="0" y="-38100"/>
              <a:ext cx="2188015" cy="554138"/>
            </a:xfrm>
            <a:prstGeom prst="rect">
              <a:avLst/>
            </a:prstGeom>
          </p:spPr>
          <p:txBody>
            <a:bodyPr lIns="50800" tIns="50800" rIns="50800" bIns="50800" rtlCol="0" anchor="ctr"/>
            <a:lstStyle/>
            <a:p>
              <a:pPr algn="ctr">
                <a:lnSpc>
                  <a:spcPts val="3384"/>
                </a:lnSpc>
              </a:pPr>
              <a:endParaRPr/>
            </a:p>
          </p:txBody>
        </p:sp>
      </p:grpSp>
      <p:sp>
        <p:nvSpPr>
          <p:cNvPr id="6" name="Freeform 6"/>
          <p:cNvSpPr/>
          <p:nvPr/>
        </p:nvSpPr>
        <p:spPr>
          <a:xfrm>
            <a:off x="-910220" y="7059738"/>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grpSp>
        <p:nvGrpSpPr>
          <p:cNvPr id="7" name="Group 7"/>
          <p:cNvGrpSpPr/>
          <p:nvPr/>
        </p:nvGrpSpPr>
        <p:grpSpPr>
          <a:xfrm>
            <a:off x="8404780" y="2468294"/>
            <a:ext cx="8307619" cy="2303731"/>
            <a:chOff x="0" y="0"/>
            <a:chExt cx="2188015" cy="606744"/>
          </a:xfrm>
        </p:grpSpPr>
        <p:sp>
          <p:nvSpPr>
            <p:cNvPr id="8" name="Freeform 8"/>
            <p:cNvSpPr/>
            <p:nvPr/>
          </p:nvSpPr>
          <p:spPr>
            <a:xfrm>
              <a:off x="0" y="0"/>
              <a:ext cx="2188015" cy="606744"/>
            </a:xfrm>
            <a:custGeom>
              <a:avLst/>
              <a:gdLst/>
              <a:ahLst/>
              <a:cxnLst/>
              <a:rect l="l" t="t" r="r" b="b"/>
              <a:pathLst>
                <a:path w="2188015" h="606744">
                  <a:moveTo>
                    <a:pt x="0" y="0"/>
                  </a:moveTo>
                  <a:lnTo>
                    <a:pt x="2188015" y="0"/>
                  </a:lnTo>
                  <a:lnTo>
                    <a:pt x="2188015" y="606744"/>
                  </a:lnTo>
                  <a:lnTo>
                    <a:pt x="0" y="606744"/>
                  </a:lnTo>
                  <a:close/>
                </a:path>
              </a:pathLst>
            </a:custGeom>
            <a:solidFill>
              <a:srgbClr val="FEFEFF"/>
            </a:solidFill>
            <a:ln w="38100" cap="sq">
              <a:solidFill>
                <a:srgbClr val="000000"/>
              </a:solidFill>
              <a:prstDash val="solid"/>
              <a:miter/>
            </a:ln>
          </p:spPr>
          <p:txBody>
            <a:bodyPr/>
            <a:lstStyle/>
            <a:p>
              <a:endParaRPr lang="en-US"/>
            </a:p>
          </p:txBody>
        </p:sp>
        <p:sp>
          <p:nvSpPr>
            <p:cNvPr id="9" name="TextBox 9"/>
            <p:cNvSpPr txBox="1"/>
            <p:nvPr/>
          </p:nvSpPr>
          <p:spPr>
            <a:xfrm>
              <a:off x="0" y="-38100"/>
              <a:ext cx="2188015" cy="644844"/>
            </a:xfrm>
            <a:prstGeom prst="rect">
              <a:avLst/>
            </a:prstGeom>
          </p:spPr>
          <p:txBody>
            <a:bodyPr lIns="50800" tIns="50800" rIns="50800" bIns="50800" rtlCol="0" anchor="ctr"/>
            <a:lstStyle/>
            <a:p>
              <a:pPr algn="ctr">
                <a:lnSpc>
                  <a:spcPts val="3384"/>
                </a:lnSpc>
              </a:pPr>
              <a:endParaRPr/>
            </a:p>
          </p:txBody>
        </p:sp>
      </p:grpSp>
      <p:sp>
        <p:nvSpPr>
          <p:cNvPr id="10" name="Freeform 10"/>
          <p:cNvSpPr/>
          <p:nvPr/>
        </p:nvSpPr>
        <p:spPr>
          <a:xfrm>
            <a:off x="-4844112" y="-7095921"/>
            <a:ext cx="14226186" cy="11718820"/>
          </a:xfrm>
          <a:custGeom>
            <a:avLst/>
            <a:gdLst/>
            <a:ahLst/>
            <a:cxnLst/>
            <a:rect l="l" t="t" r="r" b="b"/>
            <a:pathLst>
              <a:path w="14226186" h="11718820">
                <a:moveTo>
                  <a:pt x="0" y="0"/>
                </a:moveTo>
                <a:lnTo>
                  <a:pt x="14226185" y="0"/>
                </a:lnTo>
                <a:lnTo>
                  <a:pt x="14226185" y="11718821"/>
                </a:lnTo>
                <a:lnTo>
                  <a:pt x="0" y="1171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5069437" y="3037818"/>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728817" y="8543468"/>
            <a:ext cx="2899646" cy="925848"/>
          </a:xfrm>
          <a:custGeom>
            <a:avLst/>
            <a:gdLst/>
            <a:ahLst/>
            <a:cxnLst/>
            <a:rect l="l" t="t" r="r" b="b"/>
            <a:pathLst>
              <a:path w="2899646" h="925848">
                <a:moveTo>
                  <a:pt x="0" y="0"/>
                </a:moveTo>
                <a:lnTo>
                  <a:pt x="2899646" y="0"/>
                </a:lnTo>
                <a:lnTo>
                  <a:pt x="2899646" y="925849"/>
                </a:lnTo>
                <a:lnTo>
                  <a:pt x="0" y="92584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3" name="Group 13"/>
          <p:cNvGrpSpPr/>
          <p:nvPr/>
        </p:nvGrpSpPr>
        <p:grpSpPr>
          <a:xfrm>
            <a:off x="1108228" y="2791783"/>
            <a:ext cx="6622782" cy="662278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14300" cap="sq">
              <a:solidFill>
                <a:srgbClr val="0F5679"/>
              </a:solidFill>
              <a:prstDash val="solid"/>
              <a:miter/>
            </a:ln>
          </p:spPr>
          <p:txBody>
            <a:bodyPr/>
            <a:lstStyle/>
            <a:p>
              <a:endParaRPr lang="en-US"/>
            </a:p>
          </p:txBody>
        </p:sp>
        <p:sp>
          <p:nvSpPr>
            <p:cNvPr id="15" name="TextBox 15"/>
            <p:cNvSpPr txBox="1"/>
            <p:nvPr/>
          </p:nvSpPr>
          <p:spPr>
            <a:xfrm>
              <a:off x="139700" y="101600"/>
              <a:ext cx="533400" cy="571500"/>
            </a:xfrm>
            <a:prstGeom prst="rect">
              <a:avLst/>
            </a:prstGeom>
          </p:spPr>
          <p:txBody>
            <a:bodyPr lIns="50800" tIns="50800" rIns="50800" bIns="50800" rtlCol="0" anchor="ctr"/>
            <a:lstStyle/>
            <a:p>
              <a:pPr marL="0" lvl="0" indent="0" algn="ctr">
                <a:lnSpc>
                  <a:spcPts val="3384"/>
                </a:lnSpc>
              </a:pPr>
              <a:endParaRPr/>
            </a:p>
          </p:txBody>
        </p:sp>
      </p:grpSp>
      <p:grpSp>
        <p:nvGrpSpPr>
          <p:cNvPr id="16" name="Group 16"/>
          <p:cNvGrpSpPr/>
          <p:nvPr/>
        </p:nvGrpSpPr>
        <p:grpSpPr>
          <a:xfrm>
            <a:off x="2883366" y="800505"/>
            <a:ext cx="12521268" cy="1536527"/>
            <a:chOff x="0" y="0"/>
            <a:chExt cx="3867578" cy="474604"/>
          </a:xfrm>
        </p:grpSpPr>
        <p:sp>
          <p:nvSpPr>
            <p:cNvPr id="17" name="Freeform 17"/>
            <p:cNvSpPr/>
            <p:nvPr/>
          </p:nvSpPr>
          <p:spPr>
            <a:xfrm>
              <a:off x="0" y="0"/>
              <a:ext cx="3867578" cy="474604"/>
            </a:xfrm>
            <a:custGeom>
              <a:avLst/>
              <a:gdLst/>
              <a:ahLst/>
              <a:cxnLst/>
              <a:rect l="l" t="t" r="r" b="b"/>
              <a:pathLst>
                <a:path w="3867578" h="474604">
                  <a:moveTo>
                    <a:pt x="0" y="0"/>
                  </a:moveTo>
                  <a:lnTo>
                    <a:pt x="3867578" y="0"/>
                  </a:lnTo>
                  <a:lnTo>
                    <a:pt x="3867578"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18" name="TextBox 18"/>
            <p:cNvSpPr txBox="1"/>
            <p:nvPr/>
          </p:nvSpPr>
          <p:spPr>
            <a:xfrm>
              <a:off x="0" y="-38100"/>
              <a:ext cx="3867578" cy="512704"/>
            </a:xfrm>
            <a:prstGeom prst="rect">
              <a:avLst/>
            </a:prstGeom>
          </p:spPr>
          <p:txBody>
            <a:bodyPr lIns="50800" tIns="50800" rIns="50800" bIns="50800" rtlCol="0" anchor="ctr"/>
            <a:lstStyle/>
            <a:p>
              <a:pPr marL="0" lvl="0" indent="0" algn="ctr">
                <a:lnSpc>
                  <a:spcPts val="3384"/>
                </a:lnSpc>
              </a:pPr>
              <a:endParaRPr/>
            </a:p>
          </p:txBody>
        </p:sp>
      </p:grpSp>
      <p:grpSp>
        <p:nvGrpSpPr>
          <p:cNvPr id="19" name="Group 19"/>
          <p:cNvGrpSpPr/>
          <p:nvPr/>
        </p:nvGrpSpPr>
        <p:grpSpPr>
          <a:xfrm>
            <a:off x="1583049" y="3266604"/>
            <a:ext cx="5673141" cy="567314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a:stretch>
            </a:blipFill>
          </p:spPr>
          <p:txBody>
            <a:bodyPr/>
            <a:lstStyle/>
            <a:p>
              <a:endParaRPr lang="en-US"/>
            </a:p>
          </p:txBody>
        </p:sp>
      </p:grpSp>
      <p:grpSp>
        <p:nvGrpSpPr>
          <p:cNvPr id="21" name="Group 21"/>
          <p:cNvGrpSpPr/>
          <p:nvPr/>
        </p:nvGrpSpPr>
        <p:grpSpPr>
          <a:xfrm rot="-1212064">
            <a:off x="318713" y="2100681"/>
            <a:ext cx="2724106" cy="2724106"/>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solidFill>
              <a:srgbClr val="FFFFFF"/>
            </a:solidFill>
            <a:ln w="114300" cap="sq">
              <a:solidFill>
                <a:srgbClr val="0F5679"/>
              </a:solidFill>
              <a:prstDash val="solid"/>
              <a:miter/>
            </a:ln>
          </p:spPr>
          <p:txBody>
            <a:bodyPr/>
            <a:lstStyle/>
            <a:p>
              <a:endParaRPr lang="en-US"/>
            </a:p>
          </p:txBody>
        </p:sp>
        <p:sp>
          <p:nvSpPr>
            <p:cNvPr id="23" name="TextBox 23"/>
            <p:cNvSpPr txBox="1"/>
            <p:nvPr/>
          </p:nvSpPr>
          <p:spPr>
            <a:xfrm>
              <a:off x="139700" y="101600"/>
              <a:ext cx="533400" cy="571500"/>
            </a:xfrm>
            <a:prstGeom prst="rect">
              <a:avLst/>
            </a:prstGeom>
          </p:spPr>
          <p:txBody>
            <a:bodyPr lIns="50800" tIns="50800" rIns="50800" bIns="50800" rtlCol="0" anchor="ctr"/>
            <a:lstStyle/>
            <a:p>
              <a:pPr marL="0" lvl="0" indent="0" algn="ctr">
                <a:lnSpc>
                  <a:spcPts val="3384"/>
                </a:lnSpc>
              </a:pPr>
              <a:endParaRPr/>
            </a:p>
          </p:txBody>
        </p:sp>
      </p:grpSp>
      <p:grpSp>
        <p:nvGrpSpPr>
          <p:cNvPr id="24" name="Group 24"/>
          <p:cNvGrpSpPr/>
          <p:nvPr/>
        </p:nvGrpSpPr>
        <p:grpSpPr>
          <a:xfrm rot="-1212064">
            <a:off x="514018" y="2295986"/>
            <a:ext cx="2333496" cy="2333496"/>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6"/>
              <a:stretch>
                <a:fillRect/>
              </a:stretch>
            </a:blipFill>
          </p:spPr>
          <p:txBody>
            <a:bodyPr/>
            <a:lstStyle/>
            <a:p>
              <a:endParaRPr lang="en-US"/>
            </a:p>
          </p:txBody>
        </p:sp>
      </p:grpSp>
      <p:sp>
        <p:nvSpPr>
          <p:cNvPr id="26" name="TextBox 26"/>
          <p:cNvSpPr txBox="1"/>
          <p:nvPr/>
        </p:nvSpPr>
        <p:spPr>
          <a:xfrm>
            <a:off x="3686175" y="1209675"/>
            <a:ext cx="10915650" cy="710534"/>
          </a:xfrm>
          <a:prstGeom prst="rect">
            <a:avLst/>
          </a:prstGeom>
        </p:spPr>
        <p:txBody>
          <a:bodyPr lIns="0" tIns="0" rIns="0" bIns="0" rtlCol="0" anchor="t">
            <a:spAutoFit/>
          </a:bodyPr>
          <a:lstStyle/>
          <a:p>
            <a:pPr marL="0" lvl="0" indent="0" algn="ctr">
              <a:lnSpc>
                <a:spcPts val="5604"/>
              </a:lnSpc>
              <a:spcBef>
                <a:spcPct val="0"/>
              </a:spcBef>
            </a:pPr>
            <a:r>
              <a:rPr lang="en-US" sz="4670" u="none" strike="noStrike">
                <a:solidFill>
                  <a:srgbClr val="FFFFFF"/>
                </a:solidFill>
                <a:latin typeface="Montserrat"/>
                <a:ea typeface="Montserrat"/>
                <a:cs typeface="Montserrat"/>
                <a:sym typeface="Montserrat"/>
              </a:rPr>
              <a:t>DỮ LIỆU MẪU VÀ KIỂM THỬ</a:t>
            </a:r>
          </a:p>
        </p:txBody>
      </p:sp>
      <p:sp>
        <p:nvSpPr>
          <p:cNvPr id="27" name="TextBox 27"/>
          <p:cNvSpPr txBox="1"/>
          <p:nvPr/>
        </p:nvSpPr>
        <p:spPr>
          <a:xfrm>
            <a:off x="9134475" y="3409950"/>
            <a:ext cx="7248525" cy="1092835"/>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Dữ liệu mẫu bao phủ đầy đủ các thực thể: khoa/phòng, nhân sự, tài khoản người dùng, thiết bị (mobile &amp; workstation), máy chủ (physical &amp; virtual) và dịch vụ nội bộ. Bao gồm cả thiết bị mobile secure và insecure để kiểm thử điều kiện bảo mật.</a:t>
            </a:r>
          </a:p>
        </p:txBody>
      </p:sp>
      <p:sp>
        <p:nvSpPr>
          <p:cNvPr id="28" name="TextBox 28"/>
          <p:cNvSpPr txBox="1"/>
          <p:nvPr/>
        </p:nvSpPr>
        <p:spPr>
          <a:xfrm>
            <a:off x="9134475" y="5959530"/>
            <a:ext cx="7248525" cy="816610"/>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Dữ liệu quyền truy cập bao gồm các bản ghi active và revoked đa dạng theo thời gian. Audit rows được tự động sinh từ trigger khi cấp hoặc thu hồi quyền, đảm bảo truy vết đầy đủ mọi thao tác trên hệ thống.</a:t>
            </a:r>
          </a:p>
        </p:txBody>
      </p:sp>
      <p:sp>
        <p:nvSpPr>
          <p:cNvPr id="29" name="TextBox 29"/>
          <p:cNvSpPr txBox="1"/>
          <p:nvPr/>
        </p:nvSpPr>
        <p:spPr>
          <a:xfrm>
            <a:off x="8591550" y="2781300"/>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Dữ Liệu Mẫu Hệ Thống</a:t>
            </a:r>
          </a:p>
        </p:txBody>
      </p:sp>
      <p:sp>
        <p:nvSpPr>
          <p:cNvPr id="30" name="TextBox 30"/>
          <p:cNvSpPr txBox="1"/>
          <p:nvPr/>
        </p:nvSpPr>
        <p:spPr>
          <a:xfrm>
            <a:off x="8591550" y="5330880"/>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Quyền Truy Cập &amp; Audit Log</a:t>
            </a:r>
          </a:p>
        </p:txBody>
      </p:sp>
      <p:grpSp>
        <p:nvGrpSpPr>
          <p:cNvPr id="31" name="Group 31"/>
          <p:cNvGrpSpPr/>
          <p:nvPr/>
        </p:nvGrpSpPr>
        <p:grpSpPr>
          <a:xfrm>
            <a:off x="8404780" y="7515779"/>
            <a:ext cx="8307619" cy="1953538"/>
            <a:chOff x="0" y="0"/>
            <a:chExt cx="2188015" cy="514512"/>
          </a:xfrm>
        </p:grpSpPr>
        <p:sp>
          <p:nvSpPr>
            <p:cNvPr id="32" name="Freeform 32"/>
            <p:cNvSpPr/>
            <p:nvPr/>
          </p:nvSpPr>
          <p:spPr>
            <a:xfrm>
              <a:off x="0" y="0"/>
              <a:ext cx="2188015" cy="514512"/>
            </a:xfrm>
            <a:custGeom>
              <a:avLst/>
              <a:gdLst/>
              <a:ahLst/>
              <a:cxnLst/>
              <a:rect l="l" t="t" r="r" b="b"/>
              <a:pathLst>
                <a:path w="2188015" h="514512">
                  <a:moveTo>
                    <a:pt x="0" y="0"/>
                  </a:moveTo>
                  <a:lnTo>
                    <a:pt x="2188015" y="0"/>
                  </a:lnTo>
                  <a:lnTo>
                    <a:pt x="2188015" y="514512"/>
                  </a:lnTo>
                  <a:lnTo>
                    <a:pt x="0" y="514512"/>
                  </a:lnTo>
                  <a:close/>
                </a:path>
              </a:pathLst>
            </a:custGeom>
            <a:solidFill>
              <a:srgbClr val="FEFEFF"/>
            </a:solidFill>
            <a:ln w="38100" cap="sq">
              <a:solidFill>
                <a:srgbClr val="000000"/>
              </a:solidFill>
              <a:prstDash val="solid"/>
              <a:miter/>
            </a:ln>
          </p:spPr>
          <p:txBody>
            <a:bodyPr/>
            <a:lstStyle/>
            <a:p>
              <a:endParaRPr lang="en-US"/>
            </a:p>
          </p:txBody>
        </p:sp>
        <p:sp>
          <p:nvSpPr>
            <p:cNvPr id="33" name="TextBox 33"/>
            <p:cNvSpPr txBox="1"/>
            <p:nvPr/>
          </p:nvSpPr>
          <p:spPr>
            <a:xfrm>
              <a:off x="0" y="-38100"/>
              <a:ext cx="2188015" cy="552612"/>
            </a:xfrm>
            <a:prstGeom prst="rect">
              <a:avLst/>
            </a:prstGeom>
          </p:spPr>
          <p:txBody>
            <a:bodyPr lIns="50800" tIns="50800" rIns="50800" bIns="50800" rtlCol="0" anchor="ctr"/>
            <a:lstStyle/>
            <a:p>
              <a:pPr algn="ctr">
                <a:lnSpc>
                  <a:spcPts val="3384"/>
                </a:lnSpc>
              </a:pPr>
              <a:endParaRPr/>
            </a:p>
          </p:txBody>
        </p:sp>
      </p:grpSp>
      <p:sp>
        <p:nvSpPr>
          <p:cNvPr id="34" name="TextBox 34"/>
          <p:cNvSpPr txBox="1"/>
          <p:nvPr/>
        </p:nvSpPr>
        <p:spPr>
          <a:xfrm>
            <a:off x="9134475" y="8171203"/>
            <a:ext cx="7248525" cy="1092835"/>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Positive tests xác nhận hệ thống hoạt động đúng với dữ liệu hợp lệ. Negative tests kiểm tra các ràng buộc nghiệp vụ: thiết bị mobile không đủ bảo mật bị từ chối, trùng quyền active bị chặn, nhân sự thiếu tài khoản không được cấp quyền dịch vụ.</a:t>
            </a:r>
          </a:p>
        </p:txBody>
      </p:sp>
      <p:sp>
        <p:nvSpPr>
          <p:cNvPr id="35" name="TextBox 35"/>
          <p:cNvSpPr txBox="1"/>
          <p:nvPr/>
        </p:nvSpPr>
        <p:spPr>
          <a:xfrm>
            <a:off x="8591550" y="7542553"/>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Positive &amp; Negative Tests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910220" y="7059738"/>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4" name="Freeform 4"/>
          <p:cNvSpPr/>
          <p:nvPr/>
        </p:nvSpPr>
        <p:spPr>
          <a:xfrm>
            <a:off x="-4844112" y="-7095921"/>
            <a:ext cx="14226186" cy="11718820"/>
          </a:xfrm>
          <a:custGeom>
            <a:avLst/>
            <a:gdLst/>
            <a:ahLst/>
            <a:cxnLst/>
            <a:rect l="l" t="t" r="r" b="b"/>
            <a:pathLst>
              <a:path w="14226186" h="11718820">
                <a:moveTo>
                  <a:pt x="0" y="0"/>
                </a:moveTo>
                <a:lnTo>
                  <a:pt x="14226185" y="0"/>
                </a:lnTo>
                <a:lnTo>
                  <a:pt x="14226185" y="11718821"/>
                </a:lnTo>
                <a:lnTo>
                  <a:pt x="0" y="1171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5347702" y="-424916"/>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862705" y="9728851"/>
            <a:ext cx="2899646" cy="925848"/>
          </a:xfrm>
          <a:custGeom>
            <a:avLst/>
            <a:gdLst/>
            <a:ahLst/>
            <a:cxnLst/>
            <a:rect l="l" t="t" r="r" b="b"/>
            <a:pathLst>
              <a:path w="2899646" h="925848">
                <a:moveTo>
                  <a:pt x="0" y="0"/>
                </a:moveTo>
                <a:lnTo>
                  <a:pt x="2899647" y="0"/>
                </a:lnTo>
                <a:lnTo>
                  <a:pt x="2899647" y="925848"/>
                </a:lnTo>
                <a:lnTo>
                  <a:pt x="0" y="9258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2397280" y="1037589"/>
            <a:ext cx="13493441" cy="1636621"/>
            <a:chOff x="0" y="0"/>
            <a:chExt cx="3912963" cy="474604"/>
          </a:xfrm>
        </p:grpSpPr>
        <p:sp>
          <p:nvSpPr>
            <p:cNvPr id="8" name="Freeform 8"/>
            <p:cNvSpPr/>
            <p:nvPr/>
          </p:nvSpPr>
          <p:spPr>
            <a:xfrm>
              <a:off x="0" y="0"/>
              <a:ext cx="3912963" cy="474604"/>
            </a:xfrm>
            <a:custGeom>
              <a:avLst/>
              <a:gdLst/>
              <a:ahLst/>
              <a:cxnLst/>
              <a:rect l="l" t="t" r="r" b="b"/>
              <a:pathLst>
                <a:path w="3912963" h="474604">
                  <a:moveTo>
                    <a:pt x="0" y="0"/>
                  </a:moveTo>
                  <a:lnTo>
                    <a:pt x="3912963" y="0"/>
                  </a:lnTo>
                  <a:lnTo>
                    <a:pt x="3912963"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9" name="TextBox 9"/>
            <p:cNvSpPr txBox="1"/>
            <p:nvPr/>
          </p:nvSpPr>
          <p:spPr>
            <a:xfrm>
              <a:off x="0" y="-38100"/>
              <a:ext cx="3912963" cy="512704"/>
            </a:xfrm>
            <a:prstGeom prst="rect">
              <a:avLst/>
            </a:prstGeom>
          </p:spPr>
          <p:txBody>
            <a:bodyPr lIns="50800" tIns="50800" rIns="50800" bIns="50800" rtlCol="0" anchor="ctr"/>
            <a:lstStyle/>
            <a:p>
              <a:pPr marL="0" lvl="0" indent="0" algn="ctr">
                <a:lnSpc>
                  <a:spcPts val="3384"/>
                </a:lnSpc>
              </a:pPr>
              <a:endParaRPr/>
            </a:p>
          </p:txBody>
        </p:sp>
      </p:grpSp>
      <p:grpSp>
        <p:nvGrpSpPr>
          <p:cNvPr id="10" name="Group 10"/>
          <p:cNvGrpSpPr/>
          <p:nvPr/>
        </p:nvGrpSpPr>
        <p:grpSpPr>
          <a:xfrm>
            <a:off x="7098245" y="6345363"/>
            <a:ext cx="4567657" cy="2515556"/>
            <a:chOff x="0" y="0"/>
            <a:chExt cx="1324575" cy="729486"/>
          </a:xfrm>
        </p:grpSpPr>
        <p:sp>
          <p:nvSpPr>
            <p:cNvPr id="11" name="Freeform 11"/>
            <p:cNvSpPr/>
            <p:nvPr/>
          </p:nvSpPr>
          <p:spPr>
            <a:xfrm>
              <a:off x="0" y="0"/>
              <a:ext cx="1324575" cy="729486"/>
            </a:xfrm>
            <a:custGeom>
              <a:avLst/>
              <a:gdLst/>
              <a:ahLst/>
              <a:cxnLst/>
              <a:rect l="l" t="t" r="r" b="b"/>
              <a:pathLst>
                <a:path w="1324575" h="729486">
                  <a:moveTo>
                    <a:pt x="0" y="0"/>
                  </a:moveTo>
                  <a:lnTo>
                    <a:pt x="1324575" y="0"/>
                  </a:lnTo>
                  <a:lnTo>
                    <a:pt x="1324575" y="729486"/>
                  </a:lnTo>
                  <a:lnTo>
                    <a:pt x="0" y="729486"/>
                  </a:lnTo>
                  <a:close/>
                </a:path>
              </a:pathLst>
            </a:custGeom>
            <a:solidFill>
              <a:srgbClr val="0F5679"/>
            </a:solidFill>
            <a:ln w="47625" cap="sq">
              <a:solidFill>
                <a:srgbClr val="FFFFFF"/>
              </a:solidFill>
              <a:prstDash val="solid"/>
              <a:miter/>
            </a:ln>
          </p:spPr>
          <p:txBody>
            <a:bodyPr/>
            <a:lstStyle/>
            <a:p>
              <a:endParaRPr lang="en-US"/>
            </a:p>
          </p:txBody>
        </p:sp>
        <p:sp>
          <p:nvSpPr>
            <p:cNvPr id="12" name="TextBox 12"/>
            <p:cNvSpPr txBox="1"/>
            <p:nvPr/>
          </p:nvSpPr>
          <p:spPr>
            <a:xfrm>
              <a:off x="0" y="-38100"/>
              <a:ext cx="1324575" cy="767586"/>
            </a:xfrm>
            <a:prstGeom prst="rect">
              <a:avLst/>
            </a:prstGeom>
          </p:spPr>
          <p:txBody>
            <a:bodyPr lIns="50800" tIns="50800" rIns="50800" bIns="50800" rtlCol="0" anchor="ctr"/>
            <a:lstStyle/>
            <a:p>
              <a:pPr marL="0" lvl="0" indent="0" algn="ctr">
                <a:lnSpc>
                  <a:spcPts val="3384"/>
                </a:lnSpc>
              </a:pPr>
              <a:endParaRPr/>
            </a:p>
          </p:txBody>
        </p:sp>
      </p:grpSp>
      <p:grpSp>
        <p:nvGrpSpPr>
          <p:cNvPr id="13" name="Group 13"/>
          <p:cNvGrpSpPr/>
          <p:nvPr/>
        </p:nvGrpSpPr>
        <p:grpSpPr>
          <a:xfrm>
            <a:off x="12852532" y="6345363"/>
            <a:ext cx="4567657" cy="2515556"/>
            <a:chOff x="0" y="0"/>
            <a:chExt cx="1324575" cy="729486"/>
          </a:xfrm>
        </p:grpSpPr>
        <p:sp>
          <p:nvSpPr>
            <p:cNvPr id="14" name="Freeform 14"/>
            <p:cNvSpPr/>
            <p:nvPr/>
          </p:nvSpPr>
          <p:spPr>
            <a:xfrm>
              <a:off x="0" y="0"/>
              <a:ext cx="1324575" cy="729486"/>
            </a:xfrm>
            <a:custGeom>
              <a:avLst/>
              <a:gdLst/>
              <a:ahLst/>
              <a:cxnLst/>
              <a:rect l="l" t="t" r="r" b="b"/>
              <a:pathLst>
                <a:path w="1324575" h="729486">
                  <a:moveTo>
                    <a:pt x="0" y="0"/>
                  </a:moveTo>
                  <a:lnTo>
                    <a:pt x="1324575" y="0"/>
                  </a:lnTo>
                  <a:lnTo>
                    <a:pt x="1324575" y="729486"/>
                  </a:lnTo>
                  <a:lnTo>
                    <a:pt x="0" y="729486"/>
                  </a:lnTo>
                  <a:close/>
                </a:path>
              </a:pathLst>
            </a:custGeom>
            <a:solidFill>
              <a:srgbClr val="0F5679"/>
            </a:solidFill>
            <a:ln w="47625" cap="sq">
              <a:solidFill>
                <a:srgbClr val="FFFFFF"/>
              </a:solidFill>
              <a:prstDash val="solid"/>
              <a:miter/>
            </a:ln>
          </p:spPr>
          <p:txBody>
            <a:bodyPr/>
            <a:lstStyle/>
            <a:p>
              <a:endParaRPr lang="en-US"/>
            </a:p>
          </p:txBody>
        </p:sp>
        <p:sp>
          <p:nvSpPr>
            <p:cNvPr id="15" name="TextBox 15"/>
            <p:cNvSpPr txBox="1"/>
            <p:nvPr/>
          </p:nvSpPr>
          <p:spPr>
            <a:xfrm>
              <a:off x="0" y="-38100"/>
              <a:ext cx="1324575" cy="767586"/>
            </a:xfrm>
            <a:prstGeom prst="rect">
              <a:avLst/>
            </a:prstGeom>
          </p:spPr>
          <p:txBody>
            <a:bodyPr lIns="50800" tIns="50800" rIns="50800" bIns="50800" rtlCol="0" anchor="ctr"/>
            <a:lstStyle/>
            <a:p>
              <a:pPr marL="0" lvl="0" indent="0" algn="ctr">
                <a:lnSpc>
                  <a:spcPts val="3384"/>
                </a:lnSpc>
              </a:pPr>
              <a:endParaRPr/>
            </a:p>
          </p:txBody>
        </p:sp>
      </p:grpSp>
      <p:grpSp>
        <p:nvGrpSpPr>
          <p:cNvPr id="16" name="Group 16"/>
          <p:cNvGrpSpPr/>
          <p:nvPr/>
        </p:nvGrpSpPr>
        <p:grpSpPr>
          <a:xfrm>
            <a:off x="1028700" y="6345363"/>
            <a:ext cx="4567657" cy="2515556"/>
            <a:chOff x="0" y="0"/>
            <a:chExt cx="1324575" cy="729486"/>
          </a:xfrm>
        </p:grpSpPr>
        <p:sp>
          <p:nvSpPr>
            <p:cNvPr id="17" name="Freeform 17"/>
            <p:cNvSpPr/>
            <p:nvPr/>
          </p:nvSpPr>
          <p:spPr>
            <a:xfrm>
              <a:off x="0" y="0"/>
              <a:ext cx="1324575" cy="729486"/>
            </a:xfrm>
            <a:custGeom>
              <a:avLst/>
              <a:gdLst/>
              <a:ahLst/>
              <a:cxnLst/>
              <a:rect l="l" t="t" r="r" b="b"/>
              <a:pathLst>
                <a:path w="1324575" h="729486">
                  <a:moveTo>
                    <a:pt x="0" y="0"/>
                  </a:moveTo>
                  <a:lnTo>
                    <a:pt x="1324575" y="0"/>
                  </a:lnTo>
                  <a:lnTo>
                    <a:pt x="1324575" y="729486"/>
                  </a:lnTo>
                  <a:lnTo>
                    <a:pt x="0" y="729486"/>
                  </a:lnTo>
                  <a:close/>
                </a:path>
              </a:pathLst>
            </a:custGeom>
            <a:solidFill>
              <a:srgbClr val="0F5679"/>
            </a:solidFill>
            <a:ln w="47625" cap="sq">
              <a:solidFill>
                <a:srgbClr val="FFFFFF"/>
              </a:solidFill>
              <a:prstDash val="solid"/>
              <a:miter/>
            </a:ln>
          </p:spPr>
          <p:txBody>
            <a:bodyPr/>
            <a:lstStyle/>
            <a:p>
              <a:endParaRPr lang="en-US"/>
            </a:p>
          </p:txBody>
        </p:sp>
        <p:sp>
          <p:nvSpPr>
            <p:cNvPr id="18" name="TextBox 18"/>
            <p:cNvSpPr txBox="1"/>
            <p:nvPr/>
          </p:nvSpPr>
          <p:spPr>
            <a:xfrm>
              <a:off x="0" y="-38100"/>
              <a:ext cx="1324575" cy="767586"/>
            </a:xfrm>
            <a:prstGeom prst="rect">
              <a:avLst/>
            </a:prstGeom>
          </p:spPr>
          <p:txBody>
            <a:bodyPr lIns="50800" tIns="50800" rIns="50800" bIns="50800" rtlCol="0" anchor="ctr"/>
            <a:lstStyle/>
            <a:p>
              <a:pPr marL="0" lvl="0" indent="0" algn="ctr">
                <a:lnSpc>
                  <a:spcPts val="3384"/>
                </a:lnSpc>
              </a:pPr>
              <a:endParaRPr/>
            </a:p>
          </p:txBody>
        </p:sp>
      </p:grpSp>
      <p:sp>
        <p:nvSpPr>
          <p:cNvPr id="19" name="Freeform 19"/>
          <p:cNvSpPr/>
          <p:nvPr/>
        </p:nvSpPr>
        <p:spPr>
          <a:xfrm>
            <a:off x="2644460" y="3067361"/>
            <a:ext cx="13008605" cy="2443837"/>
          </a:xfrm>
          <a:custGeom>
            <a:avLst/>
            <a:gdLst/>
            <a:ahLst/>
            <a:cxnLst/>
            <a:rect l="l" t="t" r="r" b="b"/>
            <a:pathLst>
              <a:path w="13008605" h="2443837">
                <a:moveTo>
                  <a:pt x="0" y="0"/>
                </a:moveTo>
                <a:lnTo>
                  <a:pt x="13008605" y="0"/>
                </a:lnTo>
                <a:lnTo>
                  <a:pt x="13008605" y="2443837"/>
                </a:lnTo>
                <a:lnTo>
                  <a:pt x="0" y="2443837"/>
                </a:lnTo>
                <a:lnTo>
                  <a:pt x="0" y="0"/>
                </a:lnTo>
                <a:close/>
              </a:path>
            </a:pathLst>
          </a:custGeom>
          <a:blipFill>
            <a:blip r:embed="rId5"/>
            <a:stretch>
              <a:fillRect/>
            </a:stretch>
          </a:blipFill>
        </p:spPr>
        <p:txBody>
          <a:bodyPr/>
          <a:lstStyle/>
          <a:p>
            <a:endParaRPr lang="en-US"/>
          </a:p>
        </p:txBody>
      </p:sp>
      <p:sp>
        <p:nvSpPr>
          <p:cNvPr id="20" name="TextBox 20"/>
          <p:cNvSpPr txBox="1"/>
          <p:nvPr/>
        </p:nvSpPr>
        <p:spPr>
          <a:xfrm>
            <a:off x="2800350" y="1485900"/>
            <a:ext cx="12696825" cy="747295"/>
          </a:xfrm>
          <a:prstGeom prst="rect">
            <a:avLst/>
          </a:prstGeom>
        </p:spPr>
        <p:txBody>
          <a:bodyPr lIns="0" tIns="0" rIns="0" bIns="0" rtlCol="0" anchor="t">
            <a:spAutoFit/>
          </a:bodyPr>
          <a:lstStyle/>
          <a:p>
            <a:pPr marL="0" lvl="0" indent="0" algn="ctr">
              <a:lnSpc>
                <a:spcPts val="5963"/>
              </a:lnSpc>
              <a:spcBef>
                <a:spcPct val="0"/>
              </a:spcBef>
            </a:pPr>
            <a:r>
              <a:rPr lang="en-US" sz="4969" u="none" strike="noStrike">
                <a:solidFill>
                  <a:srgbClr val="FFFFFF"/>
                </a:solidFill>
                <a:latin typeface="Montserrat"/>
                <a:ea typeface="Montserrat"/>
                <a:cs typeface="Montserrat"/>
                <a:sym typeface="Montserrat"/>
              </a:rPr>
              <a:t>TRUY VẤN SQL TIÊU BIỂU</a:t>
            </a:r>
          </a:p>
        </p:txBody>
      </p:sp>
      <p:sp>
        <p:nvSpPr>
          <p:cNvPr id="21" name="TextBox 21"/>
          <p:cNvSpPr txBox="1"/>
          <p:nvPr/>
        </p:nvSpPr>
        <p:spPr>
          <a:xfrm>
            <a:off x="7631645" y="7716206"/>
            <a:ext cx="3495675" cy="872034"/>
          </a:xfrm>
          <a:prstGeom prst="rect">
            <a:avLst/>
          </a:prstGeom>
        </p:spPr>
        <p:txBody>
          <a:bodyPr lIns="0" tIns="0" rIns="0" bIns="0" rtlCol="0" anchor="t">
            <a:spAutoFit/>
          </a:bodyPr>
          <a:lstStyle/>
          <a:p>
            <a:pPr marL="0" lvl="0" indent="0" algn="ctr">
              <a:lnSpc>
                <a:spcPts val="1722"/>
              </a:lnSpc>
              <a:spcBef>
                <a:spcPct val="0"/>
              </a:spcBef>
            </a:pPr>
            <a:r>
              <a:rPr lang="en-US" sz="1600" u="none" strike="noStrike" dirty="0">
                <a:solidFill>
                  <a:srgbClr val="FFFFFF"/>
                </a:solidFill>
                <a:latin typeface="Open Sans"/>
                <a:ea typeface="Open Sans"/>
                <a:cs typeface="Open Sans"/>
                <a:sym typeface="Open Sans"/>
              </a:rPr>
              <a:t>Q02: </a:t>
            </a:r>
            <a:r>
              <a:rPr lang="en-US" sz="1600" u="none" strike="noStrike" dirty="0" err="1">
                <a:solidFill>
                  <a:srgbClr val="FFFFFF"/>
                </a:solidFill>
                <a:latin typeface="Open Sans"/>
                <a:ea typeface="Open Sans"/>
                <a:cs typeface="Open Sans"/>
                <a:sym typeface="Open Sans"/>
              </a:rPr>
              <a:t>Liệt</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kê</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thiết</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bị</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đang</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có</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quyền</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truy</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cập</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máy</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chủ</a:t>
            </a:r>
            <a:r>
              <a:rPr lang="en-US" sz="1600" u="none" strike="noStrike" dirty="0">
                <a:solidFill>
                  <a:srgbClr val="FFFFFF"/>
                </a:solidFill>
                <a:latin typeface="Open Sans"/>
                <a:ea typeface="Open Sans"/>
                <a:cs typeface="Open Sans"/>
                <a:sym typeface="Open Sans"/>
              </a:rPr>
              <a:t> (active access).</a:t>
            </a:r>
          </a:p>
          <a:p>
            <a:pPr marL="0" lvl="0" indent="0" algn="ctr">
              <a:lnSpc>
                <a:spcPts val="1722"/>
              </a:lnSpc>
              <a:spcBef>
                <a:spcPct val="0"/>
              </a:spcBef>
            </a:pPr>
            <a:r>
              <a:rPr lang="en-US" sz="1600" u="none" strike="noStrike" dirty="0">
                <a:solidFill>
                  <a:srgbClr val="FFFFFF"/>
                </a:solidFill>
                <a:latin typeface="Open Sans"/>
                <a:ea typeface="Open Sans"/>
                <a:cs typeface="Open Sans"/>
                <a:sym typeface="Open Sans"/>
              </a:rPr>
              <a:t>Q07: </a:t>
            </a:r>
            <a:r>
              <a:rPr lang="en-US" sz="1600" u="none" strike="noStrike" dirty="0" err="1">
                <a:solidFill>
                  <a:srgbClr val="FFFFFF"/>
                </a:solidFill>
                <a:latin typeface="Open Sans"/>
                <a:ea typeface="Open Sans"/>
                <a:cs typeface="Open Sans"/>
                <a:sym typeface="Open Sans"/>
              </a:rPr>
              <a:t>Tìm</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nhân</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sự</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chưa</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có</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tài</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khoản</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trong</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hệ</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thống</a:t>
            </a:r>
            <a:r>
              <a:rPr lang="en-US" sz="1600" u="none" strike="noStrike" dirty="0">
                <a:solidFill>
                  <a:srgbClr val="FFFFFF"/>
                </a:solidFill>
                <a:latin typeface="Open Sans"/>
                <a:ea typeface="Open Sans"/>
                <a:cs typeface="Open Sans"/>
                <a:sym typeface="Open Sans"/>
              </a:rPr>
              <a:t>.</a:t>
            </a:r>
          </a:p>
        </p:txBody>
      </p:sp>
      <p:sp>
        <p:nvSpPr>
          <p:cNvPr id="22" name="TextBox 22"/>
          <p:cNvSpPr txBox="1"/>
          <p:nvPr/>
        </p:nvSpPr>
        <p:spPr>
          <a:xfrm>
            <a:off x="13388001" y="7535231"/>
            <a:ext cx="3495675" cy="872034"/>
          </a:xfrm>
          <a:prstGeom prst="rect">
            <a:avLst/>
          </a:prstGeom>
        </p:spPr>
        <p:txBody>
          <a:bodyPr lIns="0" tIns="0" rIns="0" bIns="0" rtlCol="0" anchor="t">
            <a:spAutoFit/>
          </a:bodyPr>
          <a:lstStyle/>
          <a:p>
            <a:pPr marL="0" lvl="0" indent="0" algn="ctr">
              <a:lnSpc>
                <a:spcPts val="1722"/>
              </a:lnSpc>
              <a:spcBef>
                <a:spcPct val="0"/>
              </a:spcBef>
            </a:pPr>
            <a:r>
              <a:rPr lang="en-US" sz="1600" u="none" strike="noStrike">
                <a:solidFill>
                  <a:srgbClr val="FFFFFF"/>
                </a:solidFill>
                <a:latin typeface="Open Sans"/>
                <a:ea typeface="Open Sans"/>
                <a:cs typeface="Open Sans"/>
                <a:sym typeface="Open Sans"/>
              </a:rPr>
              <a:t>Q05: Tổng hợp tải truy cập trên từng server.</a:t>
            </a:r>
          </a:p>
          <a:p>
            <a:pPr marL="0" lvl="0" indent="0" algn="ctr">
              <a:lnSpc>
                <a:spcPts val="1722"/>
              </a:lnSpc>
              <a:spcBef>
                <a:spcPct val="0"/>
              </a:spcBef>
            </a:pPr>
            <a:r>
              <a:rPr lang="en-US" sz="1600" u="none" strike="noStrike">
                <a:solidFill>
                  <a:srgbClr val="FFFFFF"/>
                </a:solidFill>
                <a:latin typeface="Open Sans"/>
                <a:ea typeface="Open Sans"/>
                <a:cs typeface="Open Sans"/>
                <a:sym typeface="Open Sans"/>
              </a:rPr>
              <a:t>Q10: Dùng NOT EXISTS tìm server chưa host dịch vụ nào.</a:t>
            </a:r>
          </a:p>
        </p:txBody>
      </p:sp>
      <p:sp>
        <p:nvSpPr>
          <p:cNvPr id="23" name="TextBox 23"/>
          <p:cNvSpPr txBox="1"/>
          <p:nvPr/>
        </p:nvSpPr>
        <p:spPr>
          <a:xfrm>
            <a:off x="1562100" y="7715250"/>
            <a:ext cx="3495675" cy="872034"/>
          </a:xfrm>
          <a:prstGeom prst="rect">
            <a:avLst/>
          </a:prstGeom>
        </p:spPr>
        <p:txBody>
          <a:bodyPr lIns="0" tIns="0" rIns="0" bIns="0" rtlCol="0" anchor="t">
            <a:spAutoFit/>
          </a:bodyPr>
          <a:lstStyle/>
          <a:p>
            <a:pPr marL="0" lvl="0" indent="0" algn="ctr">
              <a:lnSpc>
                <a:spcPts val="1722"/>
              </a:lnSpc>
              <a:spcBef>
                <a:spcPct val="0"/>
              </a:spcBef>
            </a:pPr>
            <a:r>
              <a:rPr lang="en-US" sz="1600" u="none" strike="noStrike" dirty="0">
                <a:solidFill>
                  <a:srgbClr val="FFFFFF"/>
                </a:solidFill>
                <a:latin typeface="Open Sans"/>
                <a:ea typeface="Open Sans"/>
                <a:cs typeface="Open Sans"/>
                <a:sym typeface="Open Sans"/>
              </a:rPr>
              <a:t>Q06: </a:t>
            </a:r>
            <a:r>
              <a:rPr lang="en-US" sz="1600" u="none" strike="noStrike" dirty="0" err="1">
                <a:solidFill>
                  <a:srgbClr val="FFFFFF"/>
                </a:solidFill>
                <a:latin typeface="Open Sans"/>
                <a:ea typeface="Open Sans"/>
                <a:cs typeface="Open Sans"/>
                <a:sym typeface="Open Sans"/>
              </a:rPr>
              <a:t>Dùng</a:t>
            </a:r>
            <a:r>
              <a:rPr lang="en-US" sz="1600" u="none" strike="noStrike" dirty="0">
                <a:solidFill>
                  <a:srgbClr val="FFFFFF"/>
                </a:solidFill>
                <a:latin typeface="Open Sans"/>
                <a:ea typeface="Open Sans"/>
                <a:cs typeface="Open Sans"/>
                <a:sym typeface="Open Sans"/>
              </a:rPr>
              <a:t> CTE </a:t>
            </a:r>
            <a:r>
              <a:rPr lang="en-US" sz="1600" u="none" strike="noStrike" dirty="0" err="1">
                <a:solidFill>
                  <a:srgbClr val="FFFFFF"/>
                </a:solidFill>
                <a:latin typeface="Open Sans"/>
                <a:ea typeface="Open Sans"/>
                <a:cs typeface="Open Sans"/>
                <a:sym typeface="Open Sans"/>
              </a:rPr>
              <a:t>tổng</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hợp</a:t>
            </a:r>
            <a:r>
              <a:rPr lang="en-US" sz="1600" u="none" strike="noStrike" dirty="0">
                <a:solidFill>
                  <a:srgbClr val="FFFFFF"/>
                </a:solidFill>
                <a:latin typeface="Open Sans"/>
                <a:ea typeface="Open Sans"/>
                <a:cs typeface="Open Sans"/>
                <a:sym typeface="Open Sans"/>
              </a:rPr>
              <a:t> active access </a:t>
            </a:r>
            <a:r>
              <a:rPr lang="en-US" sz="1600" u="none" strike="noStrike" dirty="0" err="1">
                <a:solidFill>
                  <a:srgbClr val="FFFFFF"/>
                </a:solidFill>
                <a:latin typeface="Open Sans"/>
                <a:ea typeface="Open Sans"/>
                <a:cs typeface="Open Sans"/>
                <a:sym typeface="Open Sans"/>
              </a:rPr>
              <a:t>theo</a:t>
            </a:r>
            <a:r>
              <a:rPr lang="en-US" sz="1600" u="none" strike="noStrike" dirty="0">
                <a:solidFill>
                  <a:srgbClr val="FFFFFF"/>
                </a:solidFill>
                <a:latin typeface="Open Sans"/>
                <a:ea typeface="Open Sans"/>
                <a:cs typeface="Open Sans"/>
                <a:sym typeface="Open Sans"/>
              </a:rPr>
              <a:t> khoa/</a:t>
            </a:r>
            <a:r>
              <a:rPr lang="en-US" sz="1600" u="none" strike="noStrike" dirty="0" err="1">
                <a:solidFill>
                  <a:srgbClr val="FFFFFF"/>
                </a:solidFill>
                <a:latin typeface="Open Sans"/>
                <a:ea typeface="Open Sans"/>
                <a:cs typeface="Open Sans"/>
                <a:sym typeface="Open Sans"/>
              </a:rPr>
              <a:t>phòng</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Kết</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quả</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minh</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họa</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từ</a:t>
            </a:r>
            <a:r>
              <a:rPr lang="en-US" sz="1600" u="none" strike="noStrike" dirty="0">
                <a:solidFill>
                  <a:srgbClr val="FFFFFF"/>
                </a:solidFill>
                <a:latin typeface="Open Sans"/>
                <a:ea typeface="Open Sans"/>
                <a:cs typeface="Open Sans"/>
                <a:sym typeface="Open Sans"/>
              </a:rPr>
              <a:t> MySQL Workbench </a:t>
            </a:r>
            <a:r>
              <a:rPr lang="en-US" sz="1600" u="none" strike="noStrike" dirty="0" err="1">
                <a:solidFill>
                  <a:srgbClr val="FFFFFF"/>
                </a:solidFill>
                <a:latin typeface="Open Sans"/>
                <a:ea typeface="Open Sans"/>
                <a:cs typeface="Open Sans"/>
                <a:sym typeface="Open Sans"/>
              </a:rPr>
              <a:t>bên</a:t>
            </a:r>
            <a:r>
              <a:rPr lang="en-US" sz="1600" u="none" strike="noStrike" dirty="0">
                <a:solidFill>
                  <a:srgbClr val="FFFFFF"/>
                </a:solidFill>
                <a:latin typeface="Open Sans"/>
                <a:ea typeface="Open Sans"/>
                <a:cs typeface="Open Sans"/>
                <a:sym typeface="Open Sans"/>
              </a:rPr>
              <a:t> </a:t>
            </a:r>
            <a:r>
              <a:rPr lang="en-US" sz="1600" u="none" strike="noStrike" dirty="0" err="1">
                <a:solidFill>
                  <a:srgbClr val="FFFFFF"/>
                </a:solidFill>
                <a:latin typeface="Open Sans"/>
                <a:ea typeface="Open Sans"/>
                <a:cs typeface="Open Sans"/>
                <a:sym typeface="Open Sans"/>
              </a:rPr>
              <a:t>cạnh</a:t>
            </a:r>
            <a:r>
              <a:rPr lang="en-US" sz="1600" u="none" strike="noStrike" dirty="0">
                <a:solidFill>
                  <a:srgbClr val="FFFFFF"/>
                </a:solidFill>
                <a:latin typeface="Open Sans"/>
                <a:ea typeface="Open Sans"/>
                <a:cs typeface="Open Sans"/>
                <a:sym typeface="Open Sans"/>
              </a:rPr>
              <a:t>.</a:t>
            </a:r>
          </a:p>
        </p:txBody>
      </p:sp>
      <p:sp>
        <p:nvSpPr>
          <p:cNvPr id="24" name="TextBox 24"/>
          <p:cNvSpPr txBox="1"/>
          <p:nvPr/>
        </p:nvSpPr>
        <p:spPr>
          <a:xfrm>
            <a:off x="7307795" y="6773231"/>
            <a:ext cx="4162425" cy="452573"/>
          </a:xfrm>
          <a:prstGeom prst="rect">
            <a:avLst/>
          </a:prstGeom>
        </p:spPr>
        <p:txBody>
          <a:bodyPr lIns="0" tIns="0" rIns="0" bIns="0" rtlCol="0" anchor="t">
            <a:spAutoFit/>
          </a:bodyPr>
          <a:lstStyle/>
          <a:p>
            <a:pPr marL="0" lvl="0" indent="0" algn="ctr">
              <a:lnSpc>
                <a:spcPts val="3747"/>
              </a:lnSpc>
              <a:spcBef>
                <a:spcPct val="0"/>
              </a:spcBef>
            </a:pPr>
            <a:r>
              <a:rPr lang="en-US" sz="2904" u="none" strike="noStrike">
                <a:solidFill>
                  <a:srgbClr val="FFFFFF"/>
                </a:solidFill>
                <a:latin typeface="Montserrat"/>
                <a:ea typeface="Montserrat"/>
                <a:cs typeface="Montserrat"/>
                <a:sym typeface="Montserrat"/>
              </a:rPr>
              <a:t>Truy vấn cơ bản</a:t>
            </a:r>
          </a:p>
        </p:txBody>
      </p:sp>
      <p:sp>
        <p:nvSpPr>
          <p:cNvPr id="25" name="TextBox 25"/>
          <p:cNvSpPr txBox="1"/>
          <p:nvPr/>
        </p:nvSpPr>
        <p:spPr>
          <a:xfrm>
            <a:off x="13054626" y="6773231"/>
            <a:ext cx="4162425" cy="452573"/>
          </a:xfrm>
          <a:prstGeom prst="rect">
            <a:avLst/>
          </a:prstGeom>
        </p:spPr>
        <p:txBody>
          <a:bodyPr lIns="0" tIns="0" rIns="0" bIns="0" rtlCol="0" anchor="t">
            <a:spAutoFit/>
          </a:bodyPr>
          <a:lstStyle/>
          <a:p>
            <a:pPr marL="0" lvl="0" indent="0" algn="ctr">
              <a:lnSpc>
                <a:spcPts val="3747"/>
              </a:lnSpc>
              <a:spcBef>
                <a:spcPct val="0"/>
              </a:spcBef>
            </a:pPr>
            <a:r>
              <a:rPr lang="en-US" sz="2904" u="none" strike="noStrike">
                <a:solidFill>
                  <a:srgbClr val="FFFFFF"/>
                </a:solidFill>
                <a:latin typeface="Montserrat"/>
                <a:ea typeface="Montserrat"/>
                <a:cs typeface="Montserrat"/>
                <a:sym typeface="Montserrat"/>
              </a:rPr>
              <a:t>Truy vấn nâng cao</a:t>
            </a:r>
          </a:p>
        </p:txBody>
      </p:sp>
      <p:sp>
        <p:nvSpPr>
          <p:cNvPr id="26" name="TextBox 26"/>
          <p:cNvSpPr txBox="1"/>
          <p:nvPr/>
        </p:nvSpPr>
        <p:spPr>
          <a:xfrm>
            <a:off x="1866900" y="6772275"/>
            <a:ext cx="2905125" cy="452573"/>
          </a:xfrm>
          <a:prstGeom prst="rect">
            <a:avLst/>
          </a:prstGeom>
        </p:spPr>
        <p:txBody>
          <a:bodyPr lIns="0" tIns="0" rIns="0" bIns="0" rtlCol="0" anchor="t">
            <a:spAutoFit/>
          </a:bodyPr>
          <a:lstStyle/>
          <a:p>
            <a:pPr marL="0" lvl="0" indent="0" algn="ctr">
              <a:lnSpc>
                <a:spcPts val="3747"/>
              </a:lnSpc>
              <a:spcBef>
                <a:spcPct val="0"/>
              </a:spcBef>
            </a:pPr>
            <a:r>
              <a:rPr lang="en-US" sz="2904" u="none" strike="noStrike">
                <a:solidFill>
                  <a:srgbClr val="FFFFFF"/>
                </a:solidFill>
                <a:latin typeface="Montserrat"/>
                <a:ea typeface="Montserrat"/>
                <a:cs typeface="Montserrat"/>
                <a:sym typeface="Montserrat"/>
              </a:rPr>
              <a:t>CTE &amp; Kết quả</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flipV="1">
            <a:off x="-910220" y="7963268"/>
            <a:ext cx="20108441" cy="11573824"/>
          </a:xfrm>
          <a:custGeom>
            <a:avLst/>
            <a:gdLst/>
            <a:ahLst/>
            <a:cxnLst/>
            <a:rect l="l" t="t" r="r" b="b"/>
            <a:pathLst>
              <a:path w="20108441" h="11573824">
                <a:moveTo>
                  <a:pt x="0" y="11573824"/>
                </a:moveTo>
                <a:lnTo>
                  <a:pt x="20108440" y="11573824"/>
                </a:lnTo>
                <a:lnTo>
                  <a:pt x="20108440" y="0"/>
                </a:lnTo>
                <a:lnTo>
                  <a:pt x="0" y="0"/>
                </a:lnTo>
                <a:lnTo>
                  <a:pt x="0" y="11573824"/>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4" name="Freeform 4"/>
          <p:cNvSpPr/>
          <p:nvPr/>
        </p:nvSpPr>
        <p:spPr>
          <a:xfrm flipH="1">
            <a:off x="-910220" y="-4218144"/>
            <a:ext cx="20108441" cy="11573824"/>
          </a:xfrm>
          <a:custGeom>
            <a:avLst/>
            <a:gdLst/>
            <a:ahLst/>
            <a:cxnLst/>
            <a:rect l="l" t="t" r="r" b="b"/>
            <a:pathLst>
              <a:path w="20108441" h="11573824">
                <a:moveTo>
                  <a:pt x="20108440" y="0"/>
                </a:moveTo>
                <a:lnTo>
                  <a:pt x="0" y="0"/>
                </a:lnTo>
                <a:lnTo>
                  <a:pt x="0" y="11573825"/>
                </a:lnTo>
                <a:lnTo>
                  <a:pt x="20108440" y="11573825"/>
                </a:lnTo>
                <a:lnTo>
                  <a:pt x="2010844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5" name="Freeform 5"/>
          <p:cNvSpPr/>
          <p:nvPr/>
        </p:nvSpPr>
        <p:spPr>
          <a:xfrm>
            <a:off x="-910220" y="2525597"/>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3662816" y="7465410"/>
            <a:ext cx="2899646" cy="925848"/>
          </a:xfrm>
          <a:custGeom>
            <a:avLst/>
            <a:gdLst/>
            <a:ahLst/>
            <a:cxnLst/>
            <a:rect l="l" t="t" r="r" b="b"/>
            <a:pathLst>
              <a:path w="2899646" h="925848">
                <a:moveTo>
                  <a:pt x="0" y="0"/>
                </a:moveTo>
                <a:lnTo>
                  <a:pt x="2899646" y="0"/>
                </a:lnTo>
                <a:lnTo>
                  <a:pt x="2899646" y="925848"/>
                </a:lnTo>
                <a:lnTo>
                  <a:pt x="0" y="9258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7" name="Group 7"/>
          <p:cNvGrpSpPr/>
          <p:nvPr/>
        </p:nvGrpSpPr>
        <p:grpSpPr>
          <a:xfrm>
            <a:off x="4423258" y="207179"/>
            <a:ext cx="9705615" cy="1536527"/>
            <a:chOff x="0" y="0"/>
            <a:chExt cx="2997877" cy="474604"/>
          </a:xfrm>
        </p:grpSpPr>
        <p:sp>
          <p:nvSpPr>
            <p:cNvPr id="8" name="Freeform 8"/>
            <p:cNvSpPr/>
            <p:nvPr/>
          </p:nvSpPr>
          <p:spPr>
            <a:xfrm>
              <a:off x="0" y="0"/>
              <a:ext cx="2997877" cy="474604"/>
            </a:xfrm>
            <a:custGeom>
              <a:avLst/>
              <a:gdLst/>
              <a:ahLst/>
              <a:cxnLst/>
              <a:rect l="l" t="t" r="r" b="b"/>
              <a:pathLst>
                <a:path w="2997877" h="474604">
                  <a:moveTo>
                    <a:pt x="0" y="0"/>
                  </a:moveTo>
                  <a:lnTo>
                    <a:pt x="2997877" y="0"/>
                  </a:lnTo>
                  <a:lnTo>
                    <a:pt x="2997877"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9" name="TextBox 9"/>
            <p:cNvSpPr txBox="1"/>
            <p:nvPr/>
          </p:nvSpPr>
          <p:spPr>
            <a:xfrm>
              <a:off x="0" y="-38100"/>
              <a:ext cx="2997877" cy="512704"/>
            </a:xfrm>
            <a:prstGeom prst="rect">
              <a:avLst/>
            </a:prstGeom>
          </p:spPr>
          <p:txBody>
            <a:bodyPr lIns="50800" tIns="50800" rIns="50800" bIns="50800" rtlCol="0" anchor="ctr"/>
            <a:lstStyle/>
            <a:p>
              <a:pPr marL="0" lvl="0" indent="0" algn="ctr">
                <a:lnSpc>
                  <a:spcPts val="3384"/>
                </a:lnSpc>
              </a:pPr>
              <a:endParaRPr/>
            </a:p>
          </p:txBody>
        </p:sp>
      </p:grpSp>
      <p:grpSp>
        <p:nvGrpSpPr>
          <p:cNvPr id="10" name="Group 10"/>
          <p:cNvGrpSpPr/>
          <p:nvPr/>
        </p:nvGrpSpPr>
        <p:grpSpPr>
          <a:xfrm>
            <a:off x="11504849" y="1858248"/>
            <a:ext cx="6155081" cy="2332243"/>
            <a:chOff x="0" y="-38100"/>
            <a:chExt cx="1836706" cy="695953"/>
          </a:xfrm>
        </p:grpSpPr>
        <p:sp>
          <p:nvSpPr>
            <p:cNvPr id="11" name="Freeform 11"/>
            <p:cNvSpPr/>
            <p:nvPr/>
          </p:nvSpPr>
          <p:spPr>
            <a:xfrm>
              <a:off x="0" y="0"/>
              <a:ext cx="1836706" cy="657853"/>
            </a:xfrm>
            <a:custGeom>
              <a:avLst/>
              <a:gdLst/>
              <a:ahLst/>
              <a:cxnLst/>
              <a:rect l="l" t="t" r="r" b="b"/>
              <a:pathLst>
                <a:path w="1836706" h="657853">
                  <a:moveTo>
                    <a:pt x="0" y="0"/>
                  </a:moveTo>
                  <a:lnTo>
                    <a:pt x="1836706" y="0"/>
                  </a:lnTo>
                  <a:lnTo>
                    <a:pt x="1836706" y="657853"/>
                  </a:lnTo>
                  <a:lnTo>
                    <a:pt x="0" y="657853"/>
                  </a:lnTo>
                  <a:close/>
                </a:path>
              </a:pathLst>
            </a:custGeom>
            <a:solidFill>
              <a:srgbClr val="0F5679"/>
            </a:solidFill>
            <a:ln w="47625" cap="sq">
              <a:solidFill>
                <a:srgbClr val="FFFFFF"/>
              </a:solidFill>
              <a:prstDash val="solid"/>
              <a:miter/>
            </a:ln>
          </p:spPr>
          <p:txBody>
            <a:bodyPr/>
            <a:lstStyle/>
            <a:p>
              <a:endParaRPr lang="en-US" dirty="0"/>
            </a:p>
          </p:txBody>
        </p:sp>
        <p:sp>
          <p:nvSpPr>
            <p:cNvPr id="12" name="TextBox 12"/>
            <p:cNvSpPr txBox="1"/>
            <p:nvPr/>
          </p:nvSpPr>
          <p:spPr>
            <a:xfrm>
              <a:off x="0" y="-38100"/>
              <a:ext cx="1836706" cy="695953"/>
            </a:xfrm>
            <a:prstGeom prst="rect">
              <a:avLst/>
            </a:prstGeom>
          </p:spPr>
          <p:txBody>
            <a:bodyPr lIns="50800" tIns="50800" rIns="50800" bIns="50800" rtlCol="0" anchor="ctr"/>
            <a:lstStyle/>
            <a:p>
              <a:pPr marL="0" lvl="0" indent="0" algn="ctr">
                <a:lnSpc>
                  <a:spcPts val="3384"/>
                </a:lnSpc>
              </a:pPr>
              <a:endParaRPr/>
            </a:p>
          </p:txBody>
        </p:sp>
      </p:grpSp>
      <p:grpSp>
        <p:nvGrpSpPr>
          <p:cNvPr id="13" name="Group 13"/>
          <p:cNvGrpSpPr/>
          <p:nvPr/>
        </p:nvGrpSpPr>
        <p:grpSpPr>
          <a:xfrm>
            <a:off x="460718" y="1957520"/>
            <a:ext cx="6760116" cy="2265879"/>
            <a:chOff x="0" y="-38100"/>
            <a:chExt cx="2017251" cy="676149"/>
          </a:xfrm>
        </p:grpSpPr>
        <p:sp>
          <p:nvSpPr>
            <p:cNvPr id="14" name="Freeform 14"/>
            <p:cNvSpPr/>
            <p:nvPr/>
          </p:nvSpPr>
          <p:spPr>
            <a:xfrm>
              <a:off x="0" y="0"/>
              <a:ext cx="2017251" cy="638049"/>
            </a:xfrm>
            <a:custGeom>
              <a:avLst/>
              <a:gdLst/>
              <a:ahLst/>
              <a:cxnLst/>
              <a:rect l="l" t="t" r="r" b="b"/>
              <a:pathLst>
                <a:path w="2017251" h="638049">
                  <a:moveTo>
                    <a:pt x="0" y="0"/>
                  </a:moveTo>
                  <a:lnTo>
                    <a:pt x="2017251" y="0"/>
                  </a:lnTo>
                  <a:lnTo>
                    <a:pt x="2017251" y="638049"/>
                  </a:lnTo>
                  <a:lnTo>
                    <a:pt x="0" y="638049"/>
                  </a:lnTo>
                  <a:close/>
                </a:path>
              </a:pathLst>
            </a:custGeom>
            <a:solidFill>
              <a:srgbClr val="0F5679"/>
            </a:solidFill>
            <a:ln w="47625" cap="sq">
              <a:solidFill>
                <a:srgbClr val="FFFFFF"/>
              </a:solidFill>
              <a:prstDash val="solid"/>
              <a:miter/>
            </a:ln>
          </p:spPr>
          <p:txBody>
            <a:bodyPr/>
            <a:lstStyle/>
            <a:p>
              <a:endParaRPr lang="en-US" dirty="0"/>
            </a:p>
          </p:txBody>
        </p:sp>
        <p:sp>
          <p:nvSpPr>
            <p:cNvPr id="15" name="TextBox 15"/>
            <p:cNvSpPr txBox="1"/>
            <p:nvPr/>
          </p:nvSpPr>
          <p:spPr>
            <a:xfrm>
              <a:off x="0" y="-38100"/>
              <a:ext cx="2017251" cy="676149"/>
            </a:xfrm>
            <a:prstGeom prst="rect">
              <a:avLst/>
            </a:prstGeom>
          </p:spPr>
          <p:txBody>
            <a:bodyPr lIns="50800" tIns="50800" rIns="50800" bIns="50800" rtlCol="0" anchor="ctr"/>
            <a:lstStyle/>
            <a:p>
              <a:pPr marL="0" lvl="0" indent="0" algn="ctr">
                <a:lnSpc>
                  <a:spcPts val="3384"/>
                </a:lnSpc>
              </a:pPr>
              <a:endParaRPr/>
            </a:p>
          </p:txBody>
        </p:sp>
      </p:grpSp>
      <p:grpSp>
        <p:nvGrpSpPr>
          <p:cNvPr id="16" name="Group 16"/>
          <p:cNvGrpSpPr/>
          <p:nvPr/>
        </p:nvGrpSpPr>
        <p:grpSpPr>
          <a:xfrm>
            <a:off x="2810015" y="6628004"/>
            <a:ext cx="12275335" cy="3119305"/>
            <a:chOff x="0" y="0"/>
            <a:chExt cx="1901771" cy="483262"/>
          </a:xfrm>
        </p:grpSpPr>
        <p:sp>
          <p:nvSpPr>
            <p:cNvPr id="17" name="Freeform 17"/>
            <p:cNvSpPr/>
            <p:nvPr/>
          </p:nvSpPr>
          <p:spPr>
            <a:xfrm>
              <a:off x="0" y="0"/>
              <a:ext cx="1901771" cy="483262"/>
            </a:xfrm>
            <a:custGeom>
              <a:avLst/>
              <a:gdLst/>
              <a:ahLst/>
              <a:cxnLst/>
              <a:rect l="l" t="t" r="r" b="b"/>
              <a:pathLst>
                <a:path w="1901771" h="483262">
                  <a:moveTo>
                    <a:pt x="0" y="0"/>
                  </a:moveTo>
                  <a:lnTo>
                    <a:pt x="1901771" y="0"/>
                  </a:lnTo>
                  <a:lnTo>
                    <a:pt x="1901771" y="483262"/>
                  </a:lnTo>
                  <a:lnTo>
                    <a:pt x="0" y="483262"/>
                  </a:lnTo>
                  <a:close/>
                </a:path>
              </a:pathLst>
            </a:custGeom>
            <a:blipFill>
              <a:blip r:embed="rId5"/>
              <a:stretch>
                <a:fillRect l="-278" r="-278"/>
              </a:stretch>
            </a:blipFill>
          </p:spPr>
          <p:txBody>
            <a:bodyPr/>
            <a:lstStyle/>
            <a:p>
              <a:endParaRPr lang="en-US"/>
            </a:p>
          </p:txBody>
        </p:sp>
      </p:grpSp>
      <p:grpSp>
        <p:nvGrpSpPr>
          <p:cNvPr id="18" name="Group 18"/>
          <p:cNvGrpSpPr/>
          <p:nvPr/>
        </p:nvGrpSpPr>
        <p:grpSpPr>
          <a:xfrm>
            <a:off x="5715000" y="4354508"/>
            <a:ext cx="6760116" cy="1901379"/>
            <a:chOff x="0" y="0"/>
            <a:chExt cx="2017251" cy="567381"/>
          </a:xfrm>
        </p:grpSpPr>
        <p:sp>
          <p:nvSpPr>
            <p:cNvPr id="19" name="Freeform 19"/>
            <p:cNvSpPr/>
            <p:nvPr/>
          </p:nvSpPr>
          <p:spPr>
            <a:xfrm>
              <a:off x="0" y="0"/>
              <a:ext cx="2017251" cy="567381"/>
            </a:xfrm>
            <a:custGeom>
              <a:avLst/>
              <a:gdLst/>
              <a:ahLst/>
              <a:cxnLst/>
              <a:rect l="l" t="t" r="r" b="b"/>
              <a:pathLst>
                <a:path w="2017251" h="567381">
                  <a:moveTo>
                    <a:pt x="0" y="0"/>
                  </a:moveTo>
                  <a:lnTo>
                    <a:pt x="2017251" y="0"/>
                  </a:lnTo>
                  <a:lnTo>
                    <a:pt x="2017251" y="567381"/>
                  </a:lnTo>
                  <a:lnTo>
                    <a:pt x="0" y="567381"/>
                  </a:lnTo>
                  <a:close/>
                </a:path>
              </a:pathLst>
            </a:custGeom>
            <a:solidFill>
              <a:srgbClr val="0F5679"/>
            </a:solidFill>
            <a:ln w="47625" cap="sq">
              <a:solidFill>
                <a:srgbClr val="FFFFFF"/>
              </a:solidFill>
              <a:prstDash val="solid"/>
              <a:miter/>
            </a:ln>
          </p:spPr>
          <p:txBody>
            <a:bodyPr/>
            <a:lstStyle/>
            <a:p>
              <a:endParaRPr lang="en-US"/>
            </a:p>
          </p:txBody>
        </p:sp>
        <p:sp>
          <p:nvSpPr>
            <p:cNvPr id="20" name="TextBox 20"/>
            <p:cNvSpPr txBox="1"/>
            <p:nvPr/>
          </p:nvSpPr>
          <p:spPr>
            <a:xfrm>
              <a:off x="0" y="-38100"/>
              <a:ext cx="2017251" cy="605481"/>
            </a:xfrm>
            <a:prstGeom prst="rect">
              <a:avLst/>
            </a:prstGeom>
          </p:spPr>
          <p:txBody>
            <a:bodyPr lIns="50800" tIns="50800" rIns="50800" bIns="50800" rtlCol="0" anchor="ctr"/>
            <a:lstStyle/>
            <a:p>
              <a:pPr marL="0" lvl="0" indent="0" algn="ctr">
                <a:lnSpc>
                  <a:spcPts val="3384"/>
                </a:lnSpc>
              </a:pPr>
              <a:endParaRPr/>
            </a:p>
          </p:txBody>
        </p:sp>
      </p:grpSp>
      <p:sp>
        <p:nvSpPr>
          <p:cNvPr id="21" name="TextBox 21"/>
          <p:cNvSpPr txBox="1"/>
          <p:nvPr/>
        </p:nvSpPr>
        <p:spPr>
          <a:xfrm>
            <a:off x="4854092" y="359806"/>
            <a:ext cx="9010650" cy="625270"/>
          </a:xfrm>
          <a:prstGeom prst="rect">
            <a:avLst/>
          </a:prstGeom>
        </p:spPr>
        <p:txBody>
          <a:bodyPr lIns="0" tIns="0" rIns="0" bIns="0" rtlCol="0" anchor="t">
            <a:spAutoFit/>
          </a:bodyPr>
          <a:lstStyle/>
          <a:p>
            <a:pPr marL="0" lvl="0" indent="0" algn="ctr">
              <a:lnSpc>
                <a:spcPts val="4936"/>
              </a:lnSpc>
              <a:spcBef>
                <a:spcPct val="0"/>
              </a:spcBef>
            </a:pPr>
            <a:r>
              <a:rPr lang="en-US" sz="4113" u="none" strike="noStrike" dirty="0">
                <a:solidFill>
                  <a:srgbClr val="FFFFFF"/>
                </a:solidFill>
                <a:latin typeface="Montserrat"/>
                <a:ea typeface="Montserrat"/>
                <a:cs typeface="Montserrat"/>
                <a:sym typeface="Montserrat"/>
              </a:rPr>
              <a:t>VIEW, FUNCTION VÀ PROCEDURE</a:t>
            </a:r>
          </a:p>
        </p:txBody>
      </p:sp>
      <p:sp>
        <p:nvSpPr>
          <p:cNvPr id="22" name="TextBox 22"/>
          <p:cNvSpPr txBox="1"/>
          <p:nvPr/>
        </p:nvSpPr>
        <p:spPr>
          <a:xfrm>
            <a:off x="12314185" y="2769213"/>
            <a:ext cx="4855558" cy="1180319"/>
          </a:xfrm>
          <a:prstGeom prst="rect">
            <a:avLst/>
          </a:prstGeom>
        </p:spPr>
        <p:txBody>
          <a:bodyPr lIns="0" tIns="0" rIns="0" bIns="0" rtlCol="0" anchor="t">
            <a:spAutoFit/>
          </a:bodyPr>
          <a:lstStyle/>
          <a:p>
            <a:pPr marL="0" lvl="0" indent="0" algn="l">
              <a:lnSpc>
                <a:spcPts val="2351"/>
              </a:lnSpc>
              <a:spcBef>
                <a:spcPct val="0"/>
              </a:spcBef>
            </a:pPr>
            <a:r>
              <a:rPr lang="en-US" sz="1679" u="none" strike="noStrike" dirty="0">
                <a:solidFill>
                  <a:srgbClr val="FFFFFF"/>
                </a:solidFill>
                <a:latin typeface="Open Sans"/>
                <a:ea typeface="Open Sans"/>
                <a:cs typeface="Open Sans"/>
                <a:sym typeface="Open Sans"/>
              </a:rPr>
              <a:t>Inventory </a:t>
            </a:r>
            <a:r>
              <a:rPr lang="en-US" sz="1679" u="none" strike="noStrike" dirty="0" err="1">
                <a:solidFill>
                  <a:srgbClr val="FFFFFF"/>
                </a:solidFill>
                <a:latin typeface="Open Sans"/>
                <a:ea typeface="Open Sans"/>
                <a:cs typeface="Open Sans"/>
                <a:sym typeface="Open Sans"/>
              </a:rPr>
              <a:t>thiết</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bị</a:t>
            </a:r>
            <a:r>
              <a:rPr lang="en-US" sz="1679" u="none" strike="noStrike" dirty="0">
                <a:solidFill>
                  <a:srgbClr val="FFFFFF"/>
                </a:solidFill>
                <a:latin typeface="Open Sans"/>
                <a:ea typeface="Open Sans"/>
                <a:cs typeface="Open Sans"/>
                <a:sym typeface="Open Sans"/>
              </a:rPr>
              <a:t>, active access, </a:t>
            </a:r>
            <a:r>
              <a:rPr lang="en-US" sz="1679" u="none" strike="noStrike" dirty="0" err="1">
                <a:solidFill>
                  <a:srgbClr val="FFFFFF"/>
                </a:solidFill>
                <a:latin typeface="Open Sans"/>
                <a:ea typeface="Open Sans"/>
                <a:cs typeface="Open Sans"/>
                <a:sym typeface="Open Sans"/>
              </a:rPr>
              <a:t>quyền</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dịch</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vụ</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bảo</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mật</a:t>
            </a:r>
            <a:r>
              <a:rPr lang="en-US" sz="1679" u="none" strike="noStrike" dirty="0">
                <a:solidFill>
                  <a:srgbClr val="FFFFFF"/>
                </a:solidFill>
                <a:latin typeface="Open Sans"/>
                <a:ea typeface="Open Sans"/>
                <a:cs typeface="Open Sans"/>
                <a:sym typeface="Open Sans"/>
              </a:rPr>
              <a:t> mobile device, </a:t>
            </a:r>
            <a:r>
              <a:rPr lang="en-US" sz="1679" u="none" strike="noStrike" dirty="0" err="1">
                <a:solidFill>
                  <a:srgbClr val="FFFFFF"/>
                </a:solidFill>
                <a:latin typeface="Open Sans"/>
                <a:ea typeface="Open Sans"/>
                <a:cs typeface="Open Sans"/>
                <a:sym typeface="Open Sans"/>
              </a:rPr>
              <a:t>tóm</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tắt</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theo</a:t>
            </a:r>
            <a:r>
              <a:rPr lang="en-US" sz="1679" u="none" strike="noStrike" dirty="0">
                <a:solidFill>
                  <a:srgbClr val="FFFFFF"/>
                </a:solidFill>
                <a:latin typeface="Open Sans"/>
                <a:ea typeface="Open Sans"/>
                <a:cs typeface="Open Sans"/>
                <a:sym typeface="Open Sans"/>
              </a:rPr>
              <a:t> khoa/</a:t>
            </a:r>
            <a:r>
              <a:rPr lang="en-US" sz="1679" u="none" strike="noStrike" dirty="0" err="1">
                <a:solidFill>
                  <a:srgbClr val="FFFFFF"/>
                </a:solidFill>
                <a:latin typeface="Open Sans"/>
                <a:ea typeface="Open Sans"/>
                <a:cs typeface="Open Sans"/>
                <a:sym typeface="Open Sans"/>
              </a:rPr>
              <a:t>phòng</a:t>
            </a:r>
            <a:r>
              <a:rPr lang="en-US" sz="1679" u="none" strike="noStrike" dirty="0">
                <a:solidFill>
                  <a:srgbClr val="FFFFFF"/>
                </a:solidFill>
                <a:latin typeface="Open Sans"/>
                <a:ea typeface="Open Sans"/>
                <a:cs typeface="Open Sans"/>
                <a:sym typeface="Open Sans"/>
              </a:rPr>
              <a:t> — </a:t>
            </a:r>
            <a:r>
              <a:rPr lang="en-US" sz="1679" u="none" strike="noStrike" dirty="0" err="1">
                <a:solidFill>
                  <a:srgbClr val="FFFFFF"/>
                </a:solidFill>
                <a:latin typeface="Open Sans"/>
                <a:ea typeface="Open Sans"/>
                <a:cs typeface="Open Sans"/>
                <a:sym typeface="Open Sans"/>
              </a:rPr>
              <a:t>cung</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cấp</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góc</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nhìn</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tổng</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quan</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cho</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từng</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nhóm</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người</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dùng</a:t>
            </a:r>
            <a:r>
              <a:rPr lang="en-US" sz="1679" u="none" strike="noStrike" dirty="0">
                <a:solidFill>
                  <a:srgbClr val="FFFFFF"/>
                </a:solidFill>
                <a:latin typeface="Open Sans"/>
                <a:ea typeface="Open Sans"/>
                <a:cs typeface="Open Sans"/>
                <a:sym typeface="Open Sans"/>
              </a:rPr>
              <a:t>.</a:t>
            </a:r>
          </a:p>
        </p:txBody>
      </p:sp>
      <p:sp>
        <p:nvSpPr>
          <p:cNvPr id="23" name="TextBox 23"/>
          <p:cNvSpPr txBox="1"/>
          <p:nvPr/>
        </p:nvSpPr>
        <p:spPr>
          <a:xfrm>
            <a:off x="1270054" y="2867685"/>
            <a:ext cx="5950779" cy="1180319"/>
          </a:xfrm>
          <a:prstGeom prst="rect">
            <a:avLst/>
          </a:prstGeom>
        </p:spPr>
        <p:txBody>
          <a:bodyPr lIns="0" tIns="0" rIns="0" bIns="0" rtlCol="0" anchor="t">
            <a:spAutoFit/>
          </a:bodyPr>
          <a:lstStyle/>
          <a:p>
            <a:pPr marL="0" lvl="0" indent="0" algn="l">
              <a:lnSpc>
                <a:spcPts val="2351"/>
              </a:lnSpc>
              <a:spcBef>
                <a:spcPct val="0"/>
              </a:spcBef>
            </a:pPr>
            <a:r>
              <a:rPr lang="en-US" sz="1679" u="none" strike="noStrike" dirty="0">
                <a:solidFill>
                  <a:srgbClr val="FFFFFF"/>
                </a:solidFill>
                <a:latin typeface="Open Sans"/>
                <a:ea typeface="Open Sans"/>
                <a:cs typeface="Open Sans"/>
                <a:sym typeface="Open Sans"/>
              </a:rPr>
              <a:t>Function: </a:t>
            </a:r>
            <a:r>
              <a:rPr lang="en-US" sz="1679" u="none" strike="noStrike" dirty="0" err="1">
                <a:solidFill>
                  <a:srgbClr val="FFFFFF"/>
                </a:solidFill>
                <a:latin typeface="Open Sans"/>
                <a:ea typeface="Open Sans"/>
                <a:cs typeface="Open Sans"/>
                <a:sym typeface="Open Sans"/>
              </a:rPr>
              <a:t>đếm</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thiết</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bị</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phân</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loại</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bảo</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mật</a:t>
            </a:r>
            <a:r>
              <a:rPr lang="en-US" sz="1679" u="none" strike="noStrike" dirty="0">
                <a:solidFill>
                  <a:srgbClr val="FFFFFF"/>
                </a:solidFill>
                <a:latin typeface="Open Sans"/>
                <a:ea typeface="Open Sans"/>
                <a:cs typeface="Open Sans"/>
                <a:sym typeface="Open Sans"/>
              </a:rPr>
              <a:t> mobile, </a:t>
            </a:r>
            <a:r>
              <a:rPr lang="en-US" sz="1679" u="none" strike="noStrike" dirty="0" err="1">
                <a:solidFill>
                  <a:srgbClr val="FFFFFF"/>
                </a:solidFill>
                <a:latin typeface="Open Sans"/>
                <a:ea typeface="Open Sans"/>
                <a:cs typeface="Open Sans"/>
                <a:sym typeface="Open Sans"/>
              </a:rPr>
              <a:t>đếm</a:t>
            </a:r>
            <a:r>
              <a:rPr lang="en-US" sz="1679" u="none" strike="noStrike" dirty="0">
                <a:solidFill>
                  <a:srgbClr val="FFFFFF"/>
                </a:solidFill>
                <a:latin typeface="Open Sans"/>
                <a:ea typeface="Open Sans"/>
                <a:cs typeface="Open Sans"/>
                <a:sym typeface="Open Sans"/>
              </a:rPr>
              <a:t> active access </a:t>
            </a:r>
            <a:r>
              <a:rPr lang="en-US" sz="1679" u="none" strike="noStrike" dirty="0" err="1">
                <a:solidFill>
                  <a:srgbClr val="FFFFFF"/>
                </a:solidFill>
                <a:latin typeface="Open Sans"/>
                <a:ea typeface="Open Sans"/>
                <a:cs typeface="Open Sans"/>
                <a:sym typeface="Open Sans"/>
              </a:rPr>
              <a:t>theo</a:t>
            </a:r>
            <a:r>
              <a:rPr lang="en-US" sz="1679" u="none" strike="noStrike" dirty="0">
                <a:solidFill>
                  <a:srgbClr val="FFFFFF"/>
                </a:solidFill>
                <a:latin typeface="Open Sans"/>
                <a:ea typeface="Open Sans"/>
                <a:cs typeface="Open Sans"/>
                <a:sym typeface="Open Sans"/>
              </a:rPr>
              <a:t> server. Procedure: </a:t>
            </a:r>
            <a:r>
              <a:rPr lang="en-US" sz="1679" u="none" strike="noStrike" dirty="0" err="1">
                <a:solidFill>
                  <a:srgbClr val="FFFFFF"/>
                </a:solidFill>
                <a:latin typeface="Open Sans"/>
                <a:ea typeface="Open Sans"/>
                <a:cs typeface="Open Sans"/>
                <a:sym typeface="Open Sans"/>
              </a:rPr>
              <a:t>cấp</a:t>
            </a:r>
            <a:r>
              <a:rPr lang="en-US" sz="1679" u="none" strike="noStrike" dirty="0">
                <a:solidFill>
                  <a:srgbClr val="FFFFFF"/>
                </a:solidFill>
                <a:latin typeface="Open Sans"/>
                <a:ea typeface="Open Sans"/>
                <a:cs typeface="Open Sans"/>
                <a:sym typeface="Open Sans"/>
              </a:rPr>
              <a:t>/</a:t>
            </a:r>
            <a:r>
              <a:rPr lang="en-US" sz="1679" u="none" strike="noStrike" dirty="0" err="1">
                <a:solidFill>
                  <a:srgbClr val="FFFFFF"/>
                </a:solidFill>
                <a:latin typeface="Open Sans"/>
                <a:ea typeface="Open Sans"/>
                <a:cs typeface="Open Sans"/>
                <a:sym typeface="Open Sans"/>
              </a:rPr>
              <a:t>thu</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hồi</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quyền</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thiết</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bị</a:t>
            </a:r>
            <a:r>
              <a:rPr lang="en-US" sz="1679" u="none" strike="noStrike" dirty="0">
                <a:solidFill>
                  <a:srgbClr val="FFFFFF"/>
                </a:solidFill>
                <a:latin typeface="Open Sans"/>
                <a:ea typeface="Open Sans"/>
                <a:cs typeface="Open Sans"/>
                <a:sym typeface="Open Sans"/>
              </a:rPr>
              <a:t>–server, </a:t>
            </a:r>
            <a:r>
              <a:rPr lang="en-US" sz="1679" u="none" strike="noStrike" dirty="0" err="1">
                <a:solidFill>
                  <a:srgbClr val="FFFFFF"/>
                </a:solidFill>
                <a:latin typeface="Open Sans"/>
                <a:ea typeface="Open Sans"/>
                <a:cs typeface="Open Sans"/>
                <a:sym typeface="Open Sans"/>
              </a:rPr>
              <a:t>cấp</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quyền</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dịch</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vụ</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dùng</a:t>
            </a:r>
            <a:r>
              <a:rPr lang="en-US" sz="1679" u="none" strike="noStrike" dirty="0">
                <a:solidFill>
                  <a:srgbClr val="FFFFFF"/>
                </a:solidFill>
                <a:latin typeface="Open Sans"/>
                <a:ea typeface="Open Sans"/>
                <a:cs typeface="Open Sans"/>
                <a:sym typeface="Open Sans"/>
              </a:rPr>
              <a:t> SIGNAL </a:t>
            </a:r>
            <a:r>
              <a:rPr lang="en-US" sz="1679" u="none" strike="noStrike" dirty="0" err="1">
                <a:solidFill>
                  <a:srgbClr val="FFFFFF"/>
                </a:solidFill>
                <a:latin typeface="Open Sans"/>
                <a:ea typeface="Open Sans"/>
                <a:cs typeface="Open Sans"/>
                <a:sym typeface="Open Sans"/>
              </a:rPr>
              <a:t>trả</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lỗi</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nghiệp</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vụ</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rõ</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ràng</a:t>
            </a:r>
            <a:r>
              <a:rPr lang="en-US" sz="1679" u="none" strike="noStrike" dirty="0">
                <a:solidFill>
                  <a:srgbClr val="FFFFFF"/>
                </a:solidFill>
                <a:latin typeface="Open Sans"/>
                <a:ea typeface="Open Sans"/>
                <a:cs typeface="Open Sans"/>
                <a:sym typeface="Open Sans"/>
              </a:rPr>
              <a:t>.</a:t>
            </a:r>
          </a:p>
        </p:txBody>
      </p:sp>
      <p:sp>
        <p:nvSpPr>
          <p:cNvPr id="24" name="TextBox 24"/>
          <p:cNvSpPr txBox="1"/>
          <p:nvPr/>
        </p:nvSpPr>
        <p:spPr>
          <a:xfrm>
            <a:off x="12314185" y="2208400"/>
            <a:ext cx="6848475" cy="524030"/>
          </a:xfrm>
          <a:prstGeom prst="rect">
            <a:avLst/>
          </a:prstGeom>
        </p:spPr>
        <p:txBody>
          <a:bodyPr lIns="0" tIns="0" rIns="0" bIns="0" rtlCol="0" anchor="t">
            <a:spAutoFit/>
          </a:bodyPr>
          <a:lstStyle/>
          <a:p>
            <a:pPr marL="0" lvl="0" indent="0" algn="l">
              <a:lnSpc>
                <a:spcPts val="4367"/>
              </a:lnSpc>
              <a:spcBef>
                <a:spcPct val="0"/>
              </a:spcBef>
            </a:pPr>
            <a:r>
              <a:rPr lang="en-US" sz="3119" u="none" strike="noStrike" dirty="0">
                <a:solidFill>
                  <a:srgbClr val="FFFFFF"/>
                </a:solidFill>
                <a:latin typeface="Montserrat"/>
                <a:ea typeface="Montserrat"/>
                <a:cs typeface="Montserrat"/>
                <a:sym typeface="Montserrat"/>
              </a:rPr>
              <a:t>View </a:t>
            </a:r>
            <a:r>
              <a:rPr lang="en-US" sz="3119" u="none" strike="noStrike" dirty="0" err="1">
                <a:solidFill>
                  <a:srgbClr val="FFFFFF"/>
                </a:solidFill>
                <a:latin typeface="Montserrat"/>
                <a:ea typeface="Montserrat"/>
                <a:cs typeface="Montserrat"/>
                <a:sym typeface="Montserrat"/>
              </a:rPr>
              <a:t>tổng</a:t>
            </a:r>
            <a:r>
              <a:rPr lang="en-US" sz="3119" u="none" strike="noStrike" dirty="0">
                <a:solidFill>
                  <a:srgbClr val="FFFFFF"/>
                </a:solidFill>
                <a:latin typeface="Montserrat"/>
                <a:ea typeface="Montserrat"/>
                <a:cs typeface="Montserrat"/>
                <a:sym typeface="Montserrat"/>
              </a:rPr>
              <a:t> </a:t>
            </a:r>
            <a:r>
              <a:rPr lang="en-US" sz="3119" u="none" strike="noStrike" dirty="0" err="1">
                <a:solidFill>
                  <a:srgbClr val="FFFFFF"/>
                </a:solidFill>
                <a:latin typeface="Montserrat"/>
                <a:ea typeface="Montserrat"/>
                <a:cs typeface="Montserrat"/>
                <a:sym typeface="Montserrat"/>
              </a:rPr>
              <a:t>hợp</a:t>
            </a:r>
            <a:endParaRPr lang="en-US" sz="3119" u="none" strike="noStrike" dirty="0">
              <a:solidFill>
                <a:srgbClr val="FFFFFF"/>
              </a:solidFill>
              <a:latin typeface="Montserrat"/>
              <a:ea typeface="Montserrat"/>
              <a:cs typeface="Montserrat"/>
              <a:sym typeface="Montserrat"/>
            </a:endParaRPr>
          </a:p>
        </p:txBody>
      </p:sp>
      <p:sp>
        <p:nvSpPr>
          <p:cNvPr id="25" name="TextBox 25"/>
          <p:cNvSpPr txBox="1"/>
          <p:nvPr/>
        </p:nvSpPr>
        <p:spPr>
          <a:xfrm>
            <a:off x="1270054" y="2343655"/>
            <a:ext cx="6848475" cy="524030"/>
          </a:xfrm>
          <a:prstGeom prst="rect">
            <a:avLst/>
          </a:prstGeom>
        </p:spPr>
        <p:txBody>
          <a:bodyPr lIns="0" tIns="0" rIns="0" bIns="0" rtlCol="0" anchor="t">
            <a:spAutoFit/>
          </a:bodyPr>
          <a:lstStyle/>
          <a:p>
            <a:pPr marL="0" lvl="0" indent="0" algn="l">
              <a:lnSpc>
                <a:spcPts val="4367"/>
              </a:lnSpc>
              <a:spcBef>
                <a:spcPct val="0"/>
              </a:spcBef>
            </a:pPr>
            <a:r>
              <a:rPr lang="en-US" sz="3119" u="none" strike="noStrike">
                <a:solidFill>
                  <a:srgbClr val="FFFFFF"/>
                </a:solidFill>
                <a:latin typeface="Montserrat"/>
                <a:ea typeface="Montserrat"/>
                <a:cs typeface="Montserrat"/>
                <a:sym typeface="Montserrat"/>
              </a:rPr>
              <a:t>Function &amp; Procedure</a:t>
            </a:r>
          </a:p>
        </p:txBody>
      </p:sp>
      <p:sp>
        <p:nvSpPr>
          <p:cNvPr id="26" name="TextBox 26"/>
          <p:cNvSpPr txBox="1"/>
          <p:nvPr/>
        </p:nvSpPr>
        <p:spPr>
          <a:xfrm>
            <a:off x="6524336" y="5136194"/>
            <a:ext cx="5780017" cy="884097"/>
          </a:xfrm>
          <a:prstGeom prst="rect">
            <a:avLst/>
          </a:prstGeom>
        </p:spPr>
        <p:txBody>
          <a:bodyPr lIns="0" tIns="0" rIns="0" bIns="0" rtlCol="0" anchor="t">
            <a:spAutoFit/>
          </a:bodyPr>
          <a:lstStyle/>
          <a:p>
            <a:pPr marL="0" lvl="0" indent="0" algn="l">
              <a:lnSpc>
                <a:spcPts val="2351"/>
              </a:lnSpc>
              <a:spcBef>
                <a:spcPct val="0"/>
              </a:spcBef>
            </a:pPr>
            <a:r>
              <a:rPr lang="en-US" sz="1679" u="none" strike="noStrike" dirty="0">
                <a:solidFill>
                  <a:srgbClr val="FFFFFF"/>
                </a:solidFill>
                <a:latin typeface="Open Sans"/>
                <a:ea typeface="Open Sans"/>
                <a:cs typeface="Open Sans"/>
                <a:sym typeface="Open Sans"/>
              </a:rPr>
              <a:t>Constraint schema </a:t>
            </a:r>
            <a:r>
              <a:rPr lang="en-US" sz="1679" u="none" strike="noStrike" dirty="0" err="1">
                <a:solidFill>
                  <a:srgbClr val="FFFFFF"/>
                </a:solidFill>
                <a:latin typeface="Open Sans"/>
                <a:ea typeface="Open Sans"/>
                <a:cs typeface="Open Sans"/>
                <a:sym typeface="Open Sans"/>
              </a:rPr>
              <a:t>và</a:t>
            </a:r>
            <a:r>
              <a:rPr lang="en-US" sz="1679" u="none" strike="noStrike" dirty="0">
                <a:solidFill>
                  <a:srgbClr val="FFFFFF"/>
                </a:solidFill>
                <a:latin typeface="Open Sans"/>
                <a:ea typeface="Open Sans"/>
                <a:cs typeface="Open Sans"/>
                <a:sym typeface="Open Sans"/>
              </a:rPr>
              <a:t> stored routine </a:t>
            </a:r>
            <a:r>
              <a:rPr lang="en-US" sz="1679" u="none" strike="noStrike" dirty="0" err="1">
                <a:solidFill>
                  <a:srgbClr val="FFFFFF"/>
                </a:solidFill>
                <a:latin typeface="Open Sans"/>
                <a:ea typeface="Open Sans"/>
                <a:cs typeface="Open Sans"/>
                <a:sym typeface="Open Sans"/>
              </a:rPr>
              <a:t>phối</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hợp</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bảo</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vệ</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tính</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nhất</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quán</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dữ</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liệu</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ngăn</a:t>
            </a:r>
            <a:r>
              <a:rPr lang="en-US" sz="1679" u="none" strike="noStrike" dirty="0">
                <a:solidFill>
                  <a:srgbClr val="FFFFFF"/>
                </a:solidFill>
                <a:latin typeface="Open Sans"/>
                <a:ea typeface="Open Sans"/>
                <a:cs typeface="Open Sans"/>
                <a:sym typeface="Open Sans"/>
              </a:rPr>
              <a:t> vi </a:t>
            </a:r>
            <a:r>
              <a:rPr lang="en-US" sz="1679" u="none" strike="noStrike" dirty="0" err="1">
                <a:solidFill>
                  <a:srgbClr val="FFFFFF"/>
                </a:solidFill>
                <a:latin typeface="Open Sans"/>
                <a:ea typeface="Open Sans"/>
                <a:cs typeface="Open Sans"/>
                <a:sym typeface="Open Sans"/>
              </a:rPr>
              <a:t>phạm</a:t>
            </a:r>
            <a:r>
              <a:rPr lang="en-US" sz="1679" u="none" strike="noStrike" dirty="0">
                <a:solidFill>
                  <a:srgbClr val="FFFFFF"/>
                </a:solidFill>
                <a:latin typeface="Open Sans"/>
                <a:ea typeface="Open Sans"/>
                <a:cs typeface="Open Sans"/>
                <a:sym typeface="Open Sans"/>
              </a:rPr>
              <a:t> business rules </a:t>
            </a:r>
            <a:r>
              <a:rPr lang="en-US" sz="1679" u="none" strike="noStrike" dirty="0" err="1">
                <a:solidFill>
                  <a:srgbClr val="FFFFFF"/>
                </a:solidFill>
                <a:latin typeface="Open Sans"/>
                <a:ea typeface="Open Sans"/>
                <a:cs typeface="Open Sans"/>
                <a:sym typeface="Open Sans"/>
              </a:rPr>
              <a:t>ngay</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tại</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tầng</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cơ</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sở</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dữ</a:t>
            </a:r>
            <a:r>
              <a:rPr lang="en-US" sz="1679" u="none" strike="noStrike" dirty="0">
                <a:solidFill>
                  <a:srgbClr val="FFFFFF"/>
                </a:solidFill>
                <a:latin typeface="Open Sans"/>
                <a:ea typeface="Open Sans"/>
                <a:cs typeface="Open Sans"/>
                <a:sym typeface="Open Sans"/>
              </a:rPr>
              <a:t> </a:t>
            </a:r>
            <a:r>
              <a:rPr lang="en-US" sz="1679" u="none" strike="noStrike" dirty="0" err="1">
                <a:solidFill>
                  <a:srgbClr val="FFFFFF"/>
                </a:solidFill>
                <a:latin typeface="Open Sans"/>
                <a:ea typeface="Open Sans"/>
                <a:cs typeface="Open Sans"/>
                <a:sym typeface="Open Sans"/>
              </a:rPr>
              <a:t>liệu</a:t>
            </a:r>
            <a:r>
              <a:rPr lang="en-US" sz="1679" u="none" strike="noStrike" dirty="0">
                <a:solidFill>
                  <a:srgbClr val="FFFFFF"/>
                </a:solidFill>
                <a:latin typeface="Open Sans"/>
                <a:ea typeface="Open Sans"/>
                <a:cs typeface="Open Sans"/>
                <a:sym typeface="Open Sans"/>
              </a:rPr>
              <a:t>.</a:t>
            </a:r>
          </a:p>
        </p:txBody>
      </p:sp>
      <p:sp>
        <p:nvSpPr>
          <p:cNvPr id="27" name="TextBox 27"/>
          <p:cNvSpPr txBox="1"/>
          <p:nvPr/>
        </p:nvSpPr>
        <p:spPr>
          <a:xfrm>
            <a:off x="6524336" y="4559696"/>
            <a:ext cx="6848475" cy="524030"/>
          </a:xfrm>
          <a:prstGeom prst="rect">
            <a:avLst/>
          </a:prstGeom>
        </p:spPr>
        <p:txBody>
          <a:bodyPr lIns="0" tIns="0" rIns="0" bIns="0" rtlCol="0" anchor="t">
            <a:spAutoFit/>
          </a:bodyPr>
          <a:lstStyle/>
          <a:p>
            <a:pPr marL="0" lvl="0" indent="0" algn="l">
              <a:lnSpc>
                <a:spcPts val="4367"/>
              </a:lnSpc>
              <a:spcBef>
                <a:spcPct val="0"/>
              </a:spcBef>
            </a:pPr>
            <a:r>
              <a:rPr lang="en-US" sz="3119" u="none" strike="noStrike" dirty="0">
                <a:solidFill>
                  <a:srgbClr val="FFFFFF"/>
                </a:solidFill>
                <a:latin typeface="Montserrat"/>
                <a:ea typeface="Montserrat"/>
                <a:cs typeface="Montserrat"/>
                <a:sym typeface="Montserrat"/>
              </a:rPr>
              <a:t>Bảo </a:t>
            </a:r>
            <a:r>
              <a:rPr lang="en-US" sz="3119" u="none" strike="noStrike" dirty="0" err="1">
                <a:solidFill>
                  <a:srgbClr val="FFFFFF"/>
                </a:solidFill>
                <a:latin typeface="Montserrat"/>
                <a:ea typeface="Montserrat"/>
                <a:cs typeface="Montserrat"/>
                <a:sym typeface="Montserrat"/>
              </a:rPr>
              <a:t>toàn</a:t>
            </a:r>
            <a:r>
              <a:rPr lang="en-US" sz="3119" u="none" strike="noStrike" dirty="0">
                <a:solidFill>
                  <a:srgbClr val="FFFFFF"/>
                </a:solidFill>
                <a:latin typeface="Montserrat"/>
                <a:ea typeface="Montserrat"/>
                <a:cs typeface="Montserrat"/>
                <a:sym typeface="Montserrat"/>
              </a:rPr>
              <a:t> </a:t>
            </a:r>
            <a:r>
              <a:rPr lang="en-US" sz="3119" u="none" strike="noStrike" dirty="0" err="1">
                <a:solidFill>
                  <a:srgbClr val="FFFFFF"/>
                </a:solidFill>
                <a:latin typeface="Montserrat"/>
                <a:ea typeface="Montserrat"/>
                <a:cs typeface="Montserrat"/>
                <a:sym typeface="Montserrat"/>
              </a:rPr>
              <a:t>dữ</a:t>
            </a:r>
            <a:r>
              <a:rPr lang="en-US" sz="3119" u="none" strike="noStrike" dirty="0">
                <a:solidFill>
                  <a:srgbClr val="FFFFFF"/>
                </a:solidFill>
                <a:latin typeface="Montserrat"/>
                <a:ea typeface="Montserrat"/>
                <a:cs typeface="Montserrat"/>
                <a:sym typeface="Montserrat"/>
              </a:rPr>
              <a:t> </a:t>
            </a:r>
            <a:r>
              <a:rPr lang="en-US" sz="3119" u="none" strike="noStrike" dirty="0" err="1">
                <a:solidFill>
                  <a:srgbClr val="FFFFFF"/>
                </a:solidFill>
                <a:latin typeface="Montserrat"/>
                <a:ea typeface="Montserrat"/>
                <a:cs typeface="Montserrat"/>
                <a:sym typeface="Montserrat"/>
              </a:rPr>
              <a:t>liệu</a:t>
            </a:r>
            <a:endParaRPr lang="en-US" sz="3119" u="none" strike="noStrike" dirty="0">
              <a:solidFill>
                <a:srgbClr val="FFFF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910220" y="7059738"/>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grpSp>
        <p:nvGrpSpPr>
          <p:cNvPr id="4" name="Group 4"/>
          <p:cNvGrpSpPr/>
          <p:nvPr/>
        </p:nvGrpSpPr>
        <p:grpSpPr>
          <a:xfrm>
            <a:off x="12231762" y="3325639"/>
            <a:ext cx="4194324" cy="5932661"/>
            <a:chOff x="0" y="0"/>
            <a:chExt cx="1393885" cy="1971580"/>
          </a:xfrm>
        </p:grpSpPr>
        <p:sp>
          <p:nvSpPr>
            <p:cNvPr id="5" name="Freeform 5"/>
            <p:cNvSpPr/>
            <p:nvPr/>
          </p:nvSpPr>
          <p:spPr>
            <a:xfrm>
              <a:off x="0" y="0"/>
              <a:ext cx="1393885" cy="1971580"/>
            </a:xfrm>
            <a:custGeom>
              <a:avLst/>
              <a:gdLst/>
              <a:ahLst/>
              <a:cxnLst/>
              <a:rect l="l" t="t" r="r" b="b"/>
              <a:pathLst>
                <a:path w="1393885" h="1971580">
                  <a:moveTo>
                    <a:pt x="0" y="0"/>
                  </a:moveTo>
                  <a:lnTo>
                    <a:pt x="1393885" y="0"/>
                  </a:lnTo>
                  <a:lnTo>
                    <a:pt x="1393885" y="1971580"/>
                  </a:lnTo>
                  <a:lnTo>
                    <a:pt x="0" y="1971580"/>
                  </a:lnTo>
                  <a:close/>
                </a:path>
              </a:pathLst>
            </a:custGeom>
            <a:solidFill>
              <a:srgbClr val="0F5679"/>
            </a:solidFill>
            <a:ln w="95250" cap="sq">
              <a:solidFill>
                <a:srgbClr val="FFFFFF"/>
              </a:solidFill>
              <a:prstDash val="solid"/>
              <a:miter/>
            </a:ln>
          </p:spPr>
          <p:txBody>
            <a:bodyPr/>
            <a:lstStyle/>
            <a:p>
              <a:endParaRPr lang="en-US"/>
            </a:p>
          </p:txBody>
        </p:sp>
        <p:sp>
          <p:nvSpPr>
            <p:cNvPr id="6" name="TextBox 6"/>
            <p:cNvSpPr txBox="1"/>
            <p:nvPr/>
          </p:nvSpPr>
          <p:spPr>
            <a:xfrm>
              <a:off x="0" y="-38100"/>
              <a:ext cx="1393885" cy="2009680"/>
            </a:xfrm>
            <a:prstGeom prst="rect">
              <a:avLst/>
            </a:prstGeom>
          </p:spPr>
          <p:txBody>
            <a:bodyPr lIns="50800" tIns="50800" rIns="50800" bIns="50800" rtlCol="0" anchor="ctr"/>
            <a:lstStyle/>
            <a:p>
              <a:pPr marL="0" lvl="0" indent="0" algn="ctr">
                <a:lnSpc>
                  <a:spcPts val="3384"/>
                </a:lnSpc>
              </a:pPr>
              <a:endParaRPr/>
            </a:p>
          </p:txBody>
        </p:sp>
      </p:grpSp>
      <p:grpSp>
        <p:nvGrpSpPr>
          <p:cNvPr id="7" name="Group 7"/>
          <p:cNvGrpSpPr/>
          <p:nvPr/>
        </p:nvGrpSpPr>
        <p:grpSpPr>
          <a:xfrm>
            <a:off x="12870615" y="2868632"/>
            <a:ext cx="2857666" cy="2632257"/>
            <a:chOff x="0" y="0"/>
            <a:chExt cx="812800" cy="748687"/>
          </a:xfrm>
        </p:grpSpPr>
        <p:sp>
          <p:nvSpPr>
            <p:cNvPr id="8" name="Freeform 8"/>
            <p:cNvSpPr/>
            <p:nvPr/>
          </p:nvSpPr>
          <p:spPr>
            <a:xfrm>
              <a:off x="0" y="0"/>
              <a:ext cx="812800" cy="748687"/>
            </a:xfrm>
            <a:custGeom>
              <a:avLst/>
              <a:gdLst/>
              <a:ahLst/>
              <a:cxnLst/>
              <a:rect l="l" t="t" r="r" b="b"/>
              <a:pathLst>
                <a:path w="812800" h="748687">
                  <a:moveTo>
                    <a:pt x="574675" y="0"/>
                  </a:moveTo>
                  <a:lnTo>
                    <a:pt x="812800" y="238125"/>
                  </a:lnTo>
                  <a:lnTo>
                    <a:pt x="812800" y="510562"/>
                  </a:lnTo>
                  <a:lnTo>
                    <a:pt x="574675" y="748687"/>
                  </a:lnTo>
                  <a:lnTo>
                    <a:pt x="238125" y="748687"/>
                  </a:lnTo>
                  <a:lnTo>
                    <a:pt x="0" y="510562"/>
                  </a:lnTo>
                  <a:lnTo>
                    <a:pt x="0" y="238125"/>
                  </a:lnTo>
                  <a:lnTo>
                    <a:pt x="238125" y="0"/>
                  </a:lnTo>
                  <a:lnTo>
                    <a:pt x="574675" y="0"/>
                  </a:lnTo>
                  <a:close/>
                </a:path>
              </a:pathLst>
            </a:custGeom>
            <a:solidFill>
              <a:srgbClr val="0F5679"/>
            </a:solidFill>
            <a:ln w="95250" cap="sq">
              <a:solidFill>
                <a:srgbClr val="FFFFFF"/>
              </a:solidFill>
              <a:prstDash val="solid"/>
              <a:miter/>
            </a:ln>
          </p:spPr>
          <p:txBody>
            <a:bodyPr/>
            <a:lstStyle/>
            <a:p>
              <a:endParaRPr lang="en-US"/>
            </a:p>
          </p:txBody>
        </p:sp>
        <p:sp>
          <p:nvSpPr>
            <p:cNvPr id="9" name="TextBox 9"/>
            <p:cNvSpPr txBox="1"/>
            <p:nvPr/>
          </p:nvSpPr>
          <p:spPr>
            <a:xfrm>
              <a:off x="63500" y="25400"/>
              <a:ext cx="685800" cy="659787"/>
            </a:xfrm>
            <a:prstGeom prst="rect">
              <a:avLst/>
            </a:prstGeom>
          </p:spPr>
          <p:txBody>
            <a:bodyPr lIns="50800" tIns="50800" rIns="50800" bIns="50800" rtlCol="0" anchor="ctr"/>
            <a:lstStyle/>
            <a:p>
              <a:pPr marL="0" lvl="0" indent="0" algn="ctr">
                <a:lnSpc>
                  <a:spcPts val="3384"/>
                </a:lnSpc>
              </a:pPr>
              <a:endParaRPr/>
            </a:p>
          </p:txBody>
        </p:sp>
      </p:grpSp>
      <p:sp>
        <p:nvSpPr>
          <p:cNvPr id="10" name="TextBox 10"/>
          <p:cNvSpPr txBox="1"/>
          <p:nvPr/>
        </p:nvSpPr>
        <p:spPr>
          <a:xfrm>
            <a:off x="12592050" y="5838825"/>
            <a:ext cx="3419475" cy="2390521"/>
          </a:xfrm>
          <a:prstGeom prst="rect">
            <a:avLst/>
          </a:prstGeom>
        </p:spPr>
        <p:txBody>
          <a:bodyPr lIns="0" tIns="0" rIns="0" bIns="0" rtlCol="0" anchor="t">
            <a:spAutoFit/>
          </a:bodyPr>
          <a:lstStyle/>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ev_cleanup_old_access_audit: Event dọn dẹp các bản ghi audit cũ, được tạo ở trạng thái DISABLE trong môi trường lab.</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Minh họa chính sách quản lý vòng đời audit log, sẵn sàng kích hoạt trong môi trường production khi cần thiết.</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Đảm bảo hệ thống không tích lũy dữ liệu log quá mức theo thời gian.</a:t>
            </a:r>
          </a:p>
        </p:txBody>
      </p:sp>
      <p:sp>
        <p:nvSpPr>
          <p:cNvPr id="11" name="TextBox 11"/>
          <p:cNvSpPr txBox="1"/>
          <p:nvPr/>
        </p:nvSpPr>
        <p:spPr>
          <a:xfrm>
            <a:off x="13506450" y="3771900"/>
            <a:ext cx="1590675" cy="821175"/>
          </a:xfrm>
          <a:prstGeom prst="rect">
            <a:avLst/>
          </a:prstGeom>
        </p:spPr>
        <p:txBody>
          <a:bodyPr lIns="0" tIns="0" rIns="0" bIns="0" rtlCol="0" anchor="t">
            <a:spAutoFit/>
          </a:bodyPr>
          <a:lstStyle/>
          <a:p>
            <a:pPr marL="0" lvl="0" indent="0" algn="ctr">
              <a:lnSpc>
                <a:spcPts val="3276"/>
              </a:lnSpc>
              <a:spcBef>
                <a:spcPct val="0"/>
              </a:spcBef>
            </a:pPr>
            <a:r>
              <a:rPr lang="en-US" sz="2540" u="none" strike="noStrike">
                <a:solidFill>
                  <a:srgbClr val="FFFFFF"/>
                </a:solidFill>
                <a:latin typeface="Montserrat"/>
                <a:ea typeface="Montserrat"/>
                <a:cs typeface="Montserrat"/>
                <a:sym typeface="Montserrat"/>
              </a:rPr>
              <a:t>Event</a:t>
            </a:r>
          </a:p>
          <a:p>
            <a:pPr marL="0" lvl="0" indent="0" algn="ctr">
              <a:lnSpc>
                <a:spcPts val="3276"/>
              </a:lnSpc>
              <a:spcBef>
                <a:spcPct val="0"/>
              </a:spcBef>
            </a:pPr>
            <a:r>
              <a:rPr lang="en-US" sz="2540" u="none" strike="noStrike">
                <a:solidFill>
                  <a:srgbClr val="FFFFFF"/>
                </a:solidFill>
                <a:latin typeface="Montserrat"/>
                <a:ea typeface="Montserrat"/>
                <a:cs typeface="Montserrat"/>
                <a:sym typeface="Montserrat"/>
              </a:rPr>
              <a:t>Dọn Log</a:t>
            </a:r>
          </a:p>
        </p:txBody>
      </p:sp>
      <p:sp>
        <p:nvSpPr>
          <p:cNvPr id="12" name="Freeform 12"/>
          <p:cNvSpPr/>
          <p:nvPr/>
        </p:nvSpPr>
        <p:spPr>
          <a:xfrm>
            <a:off x="-4844112" y="-7095921"/>
            <a:ext cx="14226186" cy="11718820"/>
          </a:xfrm>
          <a:custGeom>
            <a:avLst/>
            <a:gdLst/>
            <a:ahLst/>
            <a:cxnLst/>
            <a:rect l="l" t="t" r="r" b="b"/>
            <a:pathLst>
              <a:path w="14226186" h="11718820">
                <a:moveTo>
                  <a:pt x="0" y="0"/>
                </a:moveTo>
                <a:lnTo>
                  <a:pt x="14226185" y="0"/>
                </a:lnTo>
                <a:lnTo>
                  <a:pt x="14226185" y="11718821"/>
                </a:lnTo>
                <a:lnTo>
                  <a:pt x="0" y="1171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5347702" y="-424916"/>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Freeform 14"/>
          <p:cNvSpPr/>
          <p:nvPr/>
        </p:nvSpPr>
        <p:spPr>
          <a:xfrm>
            <a:off x="1862705" y="9728851"/>
            <a:ext cx="2899646" cy="925848"/>
          </a:xfrm>
          <a:custGeom>
            <a:avLst/>
            <a:gdLst/>
            <a:ahLst/>
            <a:cxnLst/>
            <a:rect l="l" t="t" r="r" b="b"/>
            <a:pathLst>
              <a:path w="2899646" h="925848">
                <a:moveTo>
                  <a:pt x="0" y="0"/>
                </a:moveTo>
                <a:lnTo>
                  <a:pt x="2899647" y="0"/>
                </a:lnTo>
                <a:lnTo>
                  <a:pt x="2899647" y="925848"/>
                </a:lnTo>
                <a:lnTo>
                  <a:pt x="0" y="92584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5" name="Group 15"/>
          <p:cNvGrpSpPr/>
          <p:nvPr/>
        </p:nvGrpSpPr>
        <p:grpSpPr>
          <a:xfrm>
            <a:off x="6025207" y="800505"/>
            <a:ext cx="6335745" cy="1536527"/>
            <a:chOff x="0" y="0"/>
            <a:chExt cx="1956989" cy="474604"/>
          </a:xfrm>
        </p:grpSpPr>
        <p:sp>
          <p:nvSpPr>
            <p:cNvPr id="16" name="Freeform 16"/>
            <p:cNvSpPr/>
            <p:nvPr/>
          </p:nvSpPr>
          <p:spPr>
            <a:xfrm>
              <a:off x="0" y="0"/>
              <a:ext cx="1956989" cy="474604"/>
            </a:xfrm>
            <a:custGeom>
              <a:avLst/>
              <a:gdLst/>
              <a:ahLst/>
              <a:cxnLst/>
              <a:rect l="l" t="t" r="r" b="b"/>
              <a:pathLst>
                <a:path w="1956989" h="474604">
                  <a:moveTo>
                    <a:pt x="0" y="0"/>
                  </a:moveTo>
                  <a:lnTo>
                    <a:pt x="1956989" y="0"/>
                  </a:lnTo>
                  <a:lnTo>
                    <a:pt x="1956989"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17" name="TextBox 17"/>
            <p:cNvSpPr txBox="1"/>
            <p:nvPr/>
          </p:nvSpPr>
          <p:spPr>
            <a:xfrm>
              <a:off x="0" y="-38100"/>
              <a:ext cx="1956989" cy="512704"/>
            </a:xfrm>
            <a:prstGeom prst="rect">
              <a:avLst/>
            </a:prstGeom>
          </p:spPr>
          <p:txBody>
            <a:bodyPr lIns="50800" tIns="50800" rIns="50800" bIns="50800" rtlCol="0" anchor="ctr"/>
            <a:lstStyle/>
            <a:p>
              <a:pPr marL="0" lvl="0" indent="0" algn="ctr">
                <a:lnSpc>
                  <a:spcPts val="3384"/>
                </a:lnSpc>
              </a:pPr>
              <a:endParaRPr/>
            </a:p>
          </p:txBody>
        </p:sp>
      </p:grpSp>
      <p:grpSp>
        <p:nvGrpSpPr>
          <p:cNvPr id="18" name="Group 18"/>
          <p:cNvGrpSpPr/>
          <p:nvPr/>
        </p:nvGrpSpPr>
        <p:grpSpPr>
          <a:xfrm>
            <a:off x="1862705" y="3325639"/>
            <a:ext cx="4194324" cy="5932661"/>
            <a:chOff x="0" y="0"/>
            <a:chExt cx="1393885" cy="1971580"/>
          </a:xfrm>
        </p:grpSpPr>
        <p:sp>
          <p:nvSpPr>
            <p:cNvPr id="19" name="Freeform 19"/>
            <p:cNvSpPr/>
            <p:nvPr/>
          </p:nvSpPr>
          <p:spPr>
            <a:xfrm>
              <a:off x="0" y="0"/>
              <a:ext cx="1393885" cy="1971580"/>
            </a:xfrm>
            <a:custGeom>
              <a:avLst/>
              <a:gdLst/>
              <a:ahLst/>
              <a:cxnLst/>
              <a:rect l="l" t="t" r="r" b="b"/>
              <a:pathLst>
                <a:path w="1393885" h="1971580">
                  <a:moveTo>
                    <a:pt x="0" y="0"/>
                  </a:moveTo>
                  <a:lnTo>
                    <a:pt x="1393885" y="0"/>
                  </a:lnTo>
                  <a:lnTo>
                    <a:pt x="1393885" y="1971580"/>
                  </a:lnTo>
                  <a:lnTo>
                    <a:pt x="0" y="1971580"/>
                  </a:lnTo>
                  <a:close/>
                </a:path>
              </a:pathLst>
            </a:custGeom>
            <a:solidFill>
              <a:srgbClr val="0F5679"/>
            </a:solidFill>
            <a:ln w="95250" cap="sq">
              <a:solidFill>
                <a:srgbClr val="FFFFFF"/>
              </a:solidFill>
              <a:prstDash val="solid"/>
              <a:miter/>
            </a:ln>
          </p:spPr>
          <p:txBody>
            <a:bodyPr/>
            <a:lstStyle/>
            <a:p>
              <a:endParaRPr lang="en-US"/>
            </a:p>
          </p:txBody>
        </p:sp>
        <p:sp>
          <p:nvSpPr>
            <p:cNvPr id="20" name="TextBox 20"/>
            <p:cNvSpPr txBox="1"/>
            <p:nvPr/>
          </p:nvSpPr>
          <p:spPr>
            <a:xfrm>
              <a:off x="0" y="-38100"/>
              <a:ext cx="1393885" cy="2009680"/>
            </a:xfrm>
            <a:prstGeom prst="rect">
              <a:avLst/>
            </a:prstGeom>
          </p:spPr>
          <p:txBody>
            <a:bodyPr lIns="50800" tIns="50800" rIns="50800" bIns="50800" rtlCol="0" anchor="ctr"/>
            <a:lstStyle/>
            <a:p>
              <a:pPr marL="0" lvl="0" indent="0" algn="ctr">
                <a:lnSpc>
                  <a:spcPts val="3384"/>
                </a:lnSpc>
              </a:pPr>
              <a:endParaRPr/>
            </a:p>
          </p:txBody>
        </p:sp>
      </p:grpSp>
      <p:grpSp>
        <p:nvGrpSpPr>
          <p:cNvPr id="21" name="Group 21"/>
          <p:cNvGrpSpPr/>
          <p:nvPr/>
        </p:nvGrpSpPr>
        <p:grpSpPr>
          <a:xfrm>
            <a:off x="7046838" y="3325639"/>
            <a:ext cx="4194324" cy="5932661"/>
            <a:chOff x="0" y="0"/>
            <a:chExt cx="1393885" cy="1971580"/>
          </a:xfrm>
        </p:grpSpPr>
        <p:sp>
          <p:nvSpPr>
            <p:cNvPr id="22" name="Freeform 22"/>
            <p:cNvSpPr/>
            <p:nvPr/>
          </p:nvSpPr>
          <p:spPr>
            <a:xfrm>
              <a:off x="0" y="0"/>
              <a:ext cx="1393885" cy="1971580"/>
            </a:xfrm>
            <a:custGeom>
              <a:avLst/>
              <a:gdLst/>
              <a:ahLst/>
              <a:cxnLst/>
              <a:rect l="l" t="t" r="r" b="b"/>
              <a:pathLst>
                <a:path w="1393885" h="1971580">
                  <a:moveTo>
                    <a:pt x="0" y="0"/>
                  </a:moveTo>
                  <a:lnTo>
                    <a:pt x="1393885" y="0"/>
                  </a:lnTo>
                  <a:lnTo>
                    <a:pt x="1393885" y="1971580"/>
                  </a:lnTo>
                  <a:lnTo>
                    <a:pt x="0" y="1971580"/>
                  </a:lnTo>
                  <a:close/>
                </a:path>
              </a:pathLst>
            </a:custGeom>
            <a:solidFill>
              <a:srgbClr val="0F5679"/>
            </a:solidFill>
            <a:ln w="95250" cap="sq">
              <a:solidFill>
                <a:srgbClr val="FFFFFF"/>
              </a:solidFill>
              <a:prstDash val="solid"/>
              <a:miter/>
            </a:ln>
          </p:spPr>
          <p:txBody>
            <a:bodyPr/>
            <a:lstStyle/>
            <a:p>
              <a:endParaRPr lang="en-US"/>
            </a:p>
          </p:txBody>
        </p:sp>
        <p:sp>
          <p:nvSpPr>
            <p:cNvPr id="23" name="TextBox 23"/>
            <p:cNvSpPr txBox="1"/>
            <p:nvPr/>
          </p:nvSpPr>
          <p:spPr>
            <a:xfrm>
              <a:off x="0" y="-38100"/>
              <a:ext cx="1393885" cy="2009680"/>
            </a:xfrm>
            <a:prstGeom prst="rect">
              <a:avLst/>
            </a:prstGeom>
          </p:spPr>
          <p:txBody>
            <a:bodyPr lIns="50800" tIns="50800" rIns="50800" bIns="50800" rtlCol="0" anchor="ctr"/>
            <a:lstStyle/>
            <a:p>
              <a:pPr marL="0" lvl="0" indent="0" algn="ctr">
                <a:lnSpc>
                  <a:spcPts val="3384"/>
                </a:lnSpc>
              </a:pPr>
              <a:endParaRPr/>
            </a:p>
          </p:txBody>
        </p:sp>
      </p:grpSp>
      <p:grpSp>
        <p:nvGrpSpPr>
          <p:cNvPr id="24" name="Group 24"/>
          <p:cNvGrpSpPr/>
          <p:nvPr/>
        </p:nvGrpSpPr>
        <p:grpSpPr>
          <a:xfrm>
            <a:off x="2501558" y="2868632"/>
            <a:ext cx="2857666" cy="2632257"/>
            <a:chOff x="0" y="0"/>
            <a:chExt cx="812800" cy="748687"/>
          </a:xfrm>
        </p:grpSpPr>
        <p:sp>
          <p:nvSpPr>
            <p:cNvPr id="25" name="Freeform 25"/>
            <p:cNvSpPr/>
            <p:nvPr/>
          </p:nvSpPr>
          <p:spPr>
            <a:xfrm>
              <a:off x="0" y="0"/>
              <a:ext cx="812800" cy="748687"/>
            </a:xfrm>
            <a:custGeom>
              <a:avLst/>
              <a:gdLst/>
              <a:ahLst/>
              <a:cxnLst/>
              <a:rect l="l" t="t" r="r" b="b"/>
              <a:pathLst>
                <a:path w="812800" h="748687">
                  <a:moveTo>
                    <a:pt x="574675" y="0"/>
                  </a:moveTo>
                  <a:lnTo>
                    <a:pt x="812800" y="238125"/>
                  </a:lnTo>
                  <a:lnTo>
                    <a:pt x="812800" y="510562"/>
                  </a:lnTo>
                  <a:lnTo>
                    <a:pt x="574675" y="748687"/>
                  </a:lnTo>
                  <a:lnTo>
                    <a:pt x="238125" y="748687"/>
                  </a:lnTo>
                  <a:lnTo>
                    <a:pt x="0" y="510562"/>
                  </a:lnTo>
                  <a:lnTo>
                    <a:pt x="0" y="238125"/>
                  </a:lnTo>
                  <a:lnTo>
                    <a:pt x="238125" y="0"/>
                  </a:lnTo>
                  <a:lnTo>
                    <a:pt x="574675" y="0"/>
                  </a:lnTo>
                  <a:close/>
                </a:path>
              </a:pathLst>
            </a:custGeom>
            <a:solidFill>
              <a:srgbClr val="0F5679"/>
            </a:solidFill>
            <a:ln w="95250" cap="sq">
              <a:solidFill>
                <a:srgbClr val="FFFFFF"/>
              </a:solidFill>
              <a:prstDash val="solid"/>
              <a:miter/>
            </a:ln>
          </p:spPr>
          <p:txBody>
            <a:bodyPr/>
            <a:lstStyle/>
            <a:p>
              <a:endParaRPr lang="en-US"/>
            </a:p>
          </p:txBody>
        </p:sp>
        <p:sp>
          <p:nvSpPr>
            <p:cNvPr id="26" name="TextBox 26"/>
            <p:cNvSpPr txBox="1"/>
            <p:nvPr/>
          </p:nvSpPr>
          <p:spPr>
            <a:xfrm>
              <a:off x="63500" y="25400"/>
              <a:ext cx="685800" cy="659787"/>
            </a:xfrm>
            <a:prstGeom prst="rect">
              <a:avLst/>
            </a:prstGeom>
          </p:spPr>
          <p:txBody>
            <a:bodyPr lIns="50800" tIns="50800" rIns="50800" bIns="50800" rtlCol="0" anchor="ctr"/>
            <a:lstStyle/>
            <a:p>
              <a:pPr marL="0" lvl="0" indent="0" algn="ctr">
                <a:lnSpc>
                  <a:spcPts val="3384"/>
                </a:lnSpc>
              </a:pPr>
              <a:endParaRPr/>
            </a:p>
          </p:txBody>
        </p:sp>
      </p:grpSp>
      <p:grpSp>
        <p:nvGrpSpPr>
          <p:cNvPr id="27" name="Group 27"/>
          <p:cNvGrpSpPr/>
          <p:nvPr/>
        </p:nvGrpSpPr>
        <p:grpSpPr>
          <a:xfrm>
            <a:off x="7685691" y="2868632"/>
            <a:ext cx="2857666" cy="2632257"/>
            <a:chOff x="0" y="0"/>
            <a:chExt cx="812800" cy="748687"/>
          </a:xfrm>
        </p:grpSpPr>
        <p:sp>
          <p:nvSpPr>
            <p:cNvPr id="28" name="Freeform 28"/>
            <p:cNvSpPr/>
            <p:nvPr/>
          </p:nvSpPr>
          <p:spPr>
            <a:xfrm>
              <a:off x="0" y="0"/>
              <a:ext cx="812800" cy="748687"/>
            </a:xfrm>
            <a:custGeom>
              <a:avLst/>
              <a:gdLst/>
              <a:ahLst/>
              <a:cxnLst/>
              <a:rect l="l" t="t" r="r" b="b"/>
              <a:pathLst>
                <a:path w="812800" h="748687">
                  <a:moveTo>
                    <a:pt x="574675" y="0"/>
                  </a:moveTo>
                  <a:lnTo>
                    <a:pt x="812800" y="238125"/>
                  </a:lnTo>
                  <a:lnTo>
                    <a:pt x="812800" y="510562"/>
                  </a:lnTo>
                  <a:lnTo>
                    <a:pt x="574675" y="748687"/>
                  </a:lnTo>
                  <a:lnTo>
                    <a:pt x="238125" y="748687"/>
                  </a:lnTo>
                  <a:lnTo>
                    <a:pt x="0" y="510562"/>
                  </a:lnTo>
                  <a:lnTo>
                    <a:pt x="0" y="238125"/>
                  </a:lnTo>
                  <a:lnTo>
                    <a:pt x="238125" y="0"/>
                  </a:lnTo>
                  <a:lnTo>
                    <a:pt x="574675" y="0"/>
                  </a:lnTo>
                  <a:close/>
                </a:path>
              </a:pathLst>
            </a:custGeom>
            <a:solidFill>
              <a:srgbClr val="0F5679"/>
            </a:solidFill>
            <a:ln w="95250" cap="sq">
              <a:solidFill>
                <a:srgbClr val="FFFFFF"/>
              </a:solidFill>
              <a:prstDash val="solid"/>
              <a:miter/>
            </a:ln>
          </p:spPr>
          <p:txBody>
            <a:bodyPr/>
            <a:lstStyle/>
            <a:p>
              <a:endParaRPr lang="en-US"/>
            </a:p>
          </p:txBody>
        </p:sp>
        <p:sp>
          <p:nvSpPr>
            <p:cNvPr id="29" name="TextBox 29"/>
            <p:cNvSpPr txBox="1"/>
            <p:nvPr/>
          </p:nvSpPr>
          <p:spPr>
            <a:xfrm>
              <a:off x="63500" y="25400"/>
              <a:ext cx="685800" cy="659787"/>
            </a:xfrm>
            <a:prstGeom prst="rect">
              <a:avLst/>
            </a:prstGeom>
          </p:spPr>
          <p:txBody>
            <a:bodyPr lIns="50800" tIns="50800" rIns="50800" bIns="50800" rtlCol="0" anchor="ctr"/>
            <a:lstStyle/>
            <a:p>
              <a:pPr marL="0" lvl="0" indent="0" algn="ctr">
                <a:lnSpc>
                  <a:spcPts val="3384"/>
                </a:lnSpc>
              </a:pPr>
              <a:endParaRPr/>
            </a:p>
          </p:txBody>
        </p:sp>
      </p:grpSp>
      <p:sp>
        <p:nvSpPr>
          <p:cNvPr id="30" name="TextBox 30"/>
          <p:cNvSpPr txBox="1"/>
          <p:nvPr/>
        </p:nvSpPr>
        <p:spPr>
          <a:xfrm>
            <a:off x="6267450" y="1209675"/>
            <a:ext cx="5762625" cy="540006"/>
          </a:xfrm>
          <a:prstGeom prst="rect">
            <a:avLst/>
          </a:prstGeom>
        </p:spPr>
        <p:txBody>
          <a:bodyPr lIns="0" tIns="0" rIns="0" bIns="0" rtlCol="0" anchor="t">
            <a:spAutoFit/>
          </a:bodyPr>
          <a:lstStyle/>
          <a:p>
            <a:pPr marL="0" lvl="0" indent="0" algn="ctr">
              <a:lnSpc>
                <a:spcPts val="4252"/>
              </a:lnSpc>
              <a:spcBef>
                <a:spcPct val="0"/>
              </a:spcBef>
            </a:pPr>
            <a:r>
              <a:rPr lang="en-US" sz="3543" u="none" strike="noStrike">
                <a:solidFill>
                  <a:srgbClr val="FFFFFF"/>
                </a:solidFill>
                <a:latin typeface="Montserrat"/>
                <a:ea typeface="Montserrat"/>
                <a:cs typeface="Montserrat"/>
                <a:sym typeface="Montserrat"/>
              </a:rPr>
              <a:t>TRIGGER, EVENT &amp; AUDIT</a:t>
            </a:r>
          </a:p>
        </p:txBody>
      </p:sp>
      <p:sp>
        <p:nvSpPr>
          <p:cNvPr id="31" name="TextBox 31"/>
          <p:cNvSpPr txBox="1"/>
          <p:nvPr/>
        </p:nvSpPr>
        <p:spPr>
          <a:xfrm>
            <a:off x="2219325" y="5838825"/>
            <a:ext cx="3419475" cy="2657221"/>
          </a:xfrm>
          <a:prstGeom prst="rect">
            <a:avLst/>
          </a:prstGeom>
        </p:spPr>
        <p:txBody>
          <a:bodyPr lIns="0" tIns="0" rIns="0" bIns="0" rtlCol="0" anchor="t">
            <a:spAutoFit/>
          </a:bodyPr>
          <a:lstStyle/>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trg_ai_device_server_access_audit: Tự động ghi log khi cấp quyền truy cập mới cho thiết bị-máy chủ.</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trg_au_device_server_access_audit: Tự động ghi log khi thu hồi quyền truy cập thiết bị-máy chủ.</a:t>
            </a:r>
          </a:p>
          <a:p>
            <a:pPr marL="0" lvl="0" indent="0" algn="just">
              <a:lnSpc>
                <a:spcPts val="2113"/>
              </a:lnSpc>
              <a:spcBef>
                <a:spcPct val="0"/>
              </a:spcBef>
            </a:pPr>
            <a:r>
              <a:rPr lang="en-US" sz="1509" u="none" strike="noStrike">
                <a:solidFill>
                  <a:srgbClr val="FFFFFF"/>
                </a:solidFill>
                <a:latin typeface="Open Sans"/>
                <a:ea typeface="Open Sans"/>
                <a:cs typeface="Open Sans"/>
                <a:sym typeface="Open Sans"/>
              </a:rPr>
              <a:t>Cả hai trigger kích hoạt AFTER INSERT / AFTER UPDATE trên bảng device_server_access, đảm bảo mọi thay đổi đều được truy vết.</a:t>
            </a:r>
          </a:p>
        </p:txBody>
      </p:sp>
      <p:sp>
        <p:nvSpPr>
          <p:cNvPr id="32" name="TextBox 32"/>
          <p:cNvSpPr txBox="1"/>
          <p:nvPr/>
        </p:nvSpPr>
        <p:spPr>
          <a:xfrm>
            <a:off x="7410450" y="5838825"/>
            <a:ext cx="3419475" cy="1791798"/>
          </a:xfrm>
          <a:prstGeom prst="rect">
            <a:avLst/>
          </a:prstGeom>
        </p:spPr>
        <p:txBody>
          <a:bodyPr lIns="0" tIns="0" rIns="0" bIns="0" rtlCol="0" anchor="t">
            <a:spAutoFit/>
          </a:bodyPr>
          <a:lstStyle/>
          <a:p>
            <a:pPr marL="0" lvl="0" indent="0" algn="just">
              <a:lnSpc>
                <a:spcPts val="2046"/>
              </a:lnSpc>
              <a:spcBef>
                <a:spcPct val="0"/>
              </a:spcBef>
            </a:pPr>
            <a:r>
              <a:rPr lang="en-US" sz="1461" u="none" strike="noStrike">
                <a:solidFill>
                  <a:srgbClr val="FFFFFF"/>
                </a:solidFill>
                <a:latin typeface="Open Sans"/>
                <a:ea typeface="Open Sans"/>
                <a:cs typeface="Open Sans"/>
                <a:sym typeface="Open Sans"/>
              </a:rPr>
              <a:t>Audit table lưu đầy đủ thông tin:</a:t>
            </a:r>
          </a:p>
          <a:p>
            <a:pPr marL="0" lvl="0" indent="0" algn="just">
              <a:lnSpc>
                <a:spcPts val="2046"/>
              </a:lnSpc>
              <a:spcBef>
                <a:spcPct val="0"/>
              </a:spcBef>
            </a:pPr>
            <a:r>
              <a:rPr lang="en-US" sz="1461" u="none" strike="noStrike">
                <a:solidFill>
                  <a:srgbClr val="FFFFFF"/>
                </a:solidFill>
                <a:latin typeface="Open Sans"/>
                <a:ea typeface="Open Sans"/>
                <a:cs typeface="Open Sans"/>
                <a:sym typeface="Open Sans"/>
              </a:rPr>
              <a:t>• action_type: GRANT / REVOKE</a:t>
            </a:r>
          </a:p>
          <a:p>
            <a:pPr marL="0" lvl="0" indent="0" algn="just">
              <a:lnSpc>
                <a:spcPts val="2046"/>
              </a:lnSpc>
              <a:spcBef>
                <a:spcPct val="0"/>
              </a:spcBef>
            </a:pPr>
            <a:r>
              <a:rPr lang="en-US" sz="1461" u="none" strike="noStrike">
                <a:solidFill>
                  <a:srgbClr val="FFFFFF"/>
                </a:solidFill>
                <a:latin typeface="Open Sans"/>
                <a:ea typeface="Open Sans"/>
                <a:cs typeface="Open Sans"/>
                <a:sym typeface="Open Sans"/>
              </a:rPr>
              <a:t>• old_revoked_date / new_revoked_date</a:t>
            </a:r>
          </a:p>
          <a:p>
            <a:pPr marL="0" lvl="0" indent="0" algn="just">
              <a:lnSpc>
                <a:spcPts val="2046"/>
              </a:lnSpc>
              <a:spcBef>
                <a:spcPct val="0"/>
              </a:spcBef>
            </a:pPr>
            <a:r>
              <a:rPr lang="en-US" sz="1461" u="none" strike="noStrike">
                <a:solidFill>
                  <a:srgbClr val="FFFFFF"/>
                </a:solidFill>
                <a:latin typeface="Open Sans"/>
                <a:ea typeface="Open Sans"/>
                <a:cs typeface="Open Sans"/>
                <a:sym typeface="Open Sans"/>
              </a:rPr>
              <a:t>• action_time: thời điểm thực hiện</a:t>
            </a:r>
          </a:p>
          <a:p>
            <a:pPr marL="0" lvl="0" indent="0" algn="just">
              <a:lnSpc>
                <a:spcPts val="2046"/>
              </a:lnSpc>
              <a:spcBef>
                <a:spcPct val="0"/>
              </a:spcBef>
            </a:pPr>
            <a:r>
              <a:rPr lang="en-US" sz="1461" u="none" strike="noStrike">
                <a:solidFill>
                  <a:srgbClr val="FFFFFF"/>
                </a:solidFill>
                <a:latin typeface="Open Sans"/>
                <a:ea typeface="Open Sans"/>
                <a:cs typeface="Open Sans"/>
                <a:sym typeface="Open Sans"/>
              </a:rPr>
              <a:t>• action_user: tài khoản thực hiện</a:t>
            </a:r>
          </a:p>
          <a:p>
            <a:pPr marL="0" lvl="0" indent="0" algn="just">
              <a:lnSpc>
                <a:spcPts val="2046"/>
              </a:lnSpc>
              <a:spcBef>
                <a:spcPct val="0"/>
              </a:spcBef>
            </a:pPr>
            <a:r>
              <a:rPr lang="en-US" sz="1461" u="none" strike="noStrike">
                <a:solidFill>
                  <a:srgbClr val="FFFFFF"/>
                </a:solidFill>
                <a:latin typeface="Open Sans"/>
                <a:ea typeface="Open Sans"/>
                <a:cs typeface="Open Sans"/>
                <a:sym typeface="Open Sans"/>
              </a:rPr>
              <a:t>Đảm bảo truy vết toàn bộ lịch sử cấp và thu hồi quyền theo yêu cầu BR10.</a:t>
            </a:r>
          </a:p>
        </p:txBody>
      </p:sp>
      <p:sp>
        <p:nvSpPr>
          <p:cNvPr id="33" name="TextBox 33"/>
          <p:cNvSpPr txBox="1"/>
          <p:nvPr/>
        </p:nvSpPr>
        <p:spPr>
          <a:xfrm>
            <a:off x="2505075" y="3771900"/>
            <a:ext cx="2867025" cy="821175"/>
          </a:xfrm>
          <a:prstGeom prst="rect">
            <a:avLst/>
          </a:prstGeom>
        </p:spPr>
        <p:txBody>
          <a:bodyPr lIns="0" tIns="0" rIns="0" bIns="0" rtlCol="0" anchor="t">
            <a:spAutoFit/>
          </a:bodyPr>
          <a:lstStyle/>
          <a:p>
            <a:pPr marL="0" lvl="0" indent="0" algn="ctr">
              <a:lnSpc>
                <a:spcPts val="3276"/>
              </a:lnSpc>
              <a:spcBef>
                <a:spcPct val="0"/>
              </a:spcBef>
            </a:pPr>
            <a:r>
              <a:rPr lang="en-US" sz="2540" u="none" strike="noStrike">
                <a:solidFill>
                  <a:srgbClr val="FFFFFF"/>
                </a:solidFill>
                <a:latin typeface="Montserrat"/>
                <a:ea typeface="Montserrat"/>
                <a:cs typeface="Montserrat"/>
                <a:sym typeface="Montserrat"/>
              </a:rPr>
              <a:t>Trigger</a:t>
            </a:r>
          </a:p>
          <a:p>
            <a:pPr marL="0" lvl="0" indent="0" algn="ctr">
              <a:lnSpc>
                <a:spcPts val="3276"/>
              </a:lnSpc>
              <a:spcBef>
                <a:spcPct val="0"/>
              </a:spcBef>
            </a:pPr>
            <a:r>
              <a:rPr lang="en-US" sz="2540" u="none" strike="noStrike">
                <a:solidFill>
                  <a:srgbClr val="FFFFFF"/>
                </a:solidFill>
                <a:latin typeface="Montserrat"/>
                <a:ea typeface="Montserrat"/>
                <a:cs typeface="Montserrat"/>
                <a:sym typeface="Montserrat"/>
              </a:rPr>
              <a:t>Ghi Audit</a:t>
            </a:r>
          </a:p>
        </p:txBody>
      </p:sp>
      <p:sp>
        <p:nvSpPr>
          <p:cNvPr id="34" name="TextBox 34"/>
          <p:cNvSpPr txBox="1"/>
          <p:nvPr/>
        </p:nvSpPr>
        <p:spPr>
          <a:xfrm>
            <a:off x="7686675" y="3981450"/>
            <a:ext cx="2867025" cy="821175"/>
          </a:xfrm>
          <a:prstGeom prst="rect">
            <a:avLst/>
          </a:prstGeom>
        </p:spPr>
        <p:txBody>
          <a:bodyPr lIns="0" tIns="0" rIns="0" bIns="0" rtlCol="0" anchor="t">
            <a:spAutoFit/>
          </a:bodyPr>
          <a:lstStyle/>
          <a:p>
            <a:pPr marL="0" lvl="0" indent="0" algn="ctr">
              <a:lnSpc>
                <a:spcPts val="3276"/>
              </a:lnSpc>
              <a:spcBef>
                <a:spcPct val="0"/>
              </a:spcBef>
            </a:pPr>
            <a:r>
              <a:rPr lang="en-US" sz="2540" u="none" strike="noStrike">
                <a:solidFill>
                  <a:srgbClr val="FFFFFF"/>
                </a:solidFill>
                <a:latin typeface="Montserrat"/>
                <a:ea typeface="Montserrat"/>
                <a:cs typeface="Montserrat"/>
                <a:sym typeface="Montserrat"/>
              </a:rPr>
              <a:t>Audit Table</a:t>
            </a:r>
          </a:p>
          <a:p>
            <a:pPr marL="0" lvl="0" indent="0" algn="ctr">
              <a:lnSpc>
                <a:spcPts val="3276"/>
              </a:lnSpc>
              <a:spcBef>
                <a:spcPct val="0"/>
              </a:spcBef>
            </a:pPr>
            <a:r>
              <a:rPr lang="en-US" sz="2540" u="none" strike="noStrike">
                <a:solidFill>
                  <a:srgbClr val="FFFFFF"/>
                </a:solidFill>
                <a:latin typeface="Montserrat"/>
                <a:ea typeface="Montserrat"/>
                <a:cs typeface="Montserrat"/>
                <a:sym typeface="Montserrat"/>
              </a:rPr>
              <a:t>Cấu trúc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910220" y="7059738"/>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grpSp>
        <p:nvGrpSpPr>
          <p:cNvPr id="4" name="Group 4"/>
          <p:cNvGrpSpPr/>
          <p:nvPr/>
        </p:nvGrpSpPr>
        <p:grpSpPr>
          <a:xfrm>
            <a:off x="8893715" y="5465556"/>
            <a:ext cx="7817349" cy="2162052"/>
            <a:chOff x="0" y="0"/>
            <a:chExt cx="2058890" cy="569429"/>
          </a:xfrm>
        </p:grpSpPr>
        <p:sp>
          <p:nvSpPr>
            <p:cNvPr id="5" name="Freeform 5"/>
            <p:cNvSpPr/>
            <p:nvPr/>
          </p:nvSpPr>
          <p:spPr>
            <a:xfrm>
              <a:off x="0" y="0"/>
              <a:ext cx="2058890" cy="569429"/>
            </a:xfrm>
            <a:custGeom>
              <a:avLst/>
              <a:gdLst/>
              <a:ahLst/>
              <a:cxnLst/>
              <a:rect l="l" t="t" r="r" b="b"/>
              <a:pathLst>
                <a:path w="2058890" h="569429">
                  <a:moveTo>
                    <a:pt x="0" y="0"/>
                  </a:moveTo>
                  <a:lnTo>
                    <a:pt x="2058890" y="0"/>
                  </a:lnTo>
                  <a:lnTo>
                    <a:pt x="2058890" y="569429"/>
                  </a:lnTo>
                  <a:lnTo>
                    <a:pt x="0" y="569429"/>
                  </a:lnTo>
                  <a:close/>
                </a:path>
              </a:pathLst>
            </a:custGeom>
            <a:solidFill>
              <a:srgbClr val="FEFEFF"/>
            </a:solidFill>
            <a:ln w="38100" cap="sq">
              <a:solidFill>
                <a:srgbClr val="000000"/>
              </a:solidFill>
              <a:prstDash val="solid"/>
              <a:miter/>
            </a:ln>
          </p:spPr>
          <p:txBody>
            <a:bodyPr/>
            <a:lstStyle/>
            <a:p>
              <a:endParaRPr lang="en-US"/>
            </a:p>
          </p:txBody>
        </p:sp>
        <p:sp>
          <p:nvSpPr>
            <p:cNvPr id="6" name="TextBox 6"/>
            <p:cNvSpPr txBox="1"/>
            <p:nvPr/>
          </p:nvSpPr>
          <p:spPr>
            <a:xfrm>
              <a:off x="0" y="-38100"/>
              <a:ext cx="2058890" cy="607529"/>
            </a:xfrm>
            <a:prstGeom prst="rect">
              <a:avLst/>
            </a:prstGeom>
          </p:spPr>
          <p:txBody>
            <a:bodyPr lIns="50800" tIns="50800" rIns="50800" bIns="50800" rtlCol="0" anchor="ctr"/>
            <a:lstStyle/>
            <a:p>
              <a:pPr algn="ctr">
                <a:lnSpc>
                  <a:spcPts val="3384"/>
                </a:lnSpc>
              </a:pPr>
              <a:endParaRPr/>
            </a:p>
          </p:txBody>
        </p:sp>
      </p:grpSp>
      <p:sp>
        <p:nvSpPr>
          <p:cNvPr id="7" name="Freeform 7"/>
          <p:cNvSpPr/>
          <p:nvPr/>
        </p:nvSpPr>
        <p:spPr>
          <a:xfrm>
            <a:off x="-4844112" y="-7095921"/>
            <a:ext cx="14226186" cy="11718820"/>
          </a:xfrm>
          <a:custGeom>
            <a:avLst/>
            <a:gdLst/>
            <a:ahLst/>
            <a:cxnLst/>
            <a:rect l="l" t="t" r="r" b="b"/>
            <a:pathLst>
              <a:path w="14226186" h="11718820">
                <a:moveTo>
                  <a:pt x="0" y="0"/>
                </a:moveTo>
                <a:lnTo>
                  <a:pt x="14226185" y="0"/>
                </a:lnTo>
                <a:lnTo>
                  <a:pt x="14226185" y="11718821"/>
                </a:lnTo>
                <a:lnTo>
                  <a:pt x="0" y="11718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5069437" y="3037818"/>
            <a:ext cx="2661573" cy="849832"/>
          </a:xfrm>
          <a:custGeom>
            <a:avLst/>
            <a:gdLst/>
            <a:ahLst/>
            <a:cxnLst/>
            <a:rect l="l" t="t" r="r" b="b"/>
            <a:pathLst>
              <a:path w="2661573" h="849832">
                <a:moveTo>
                  <a:pt x="0" y="0"/>
                </a:moveTo>
                <a:lnTo>
                  <a:pt x="2661573" y="0"/>
                </a:lnTo>
                <a:lnTo>
                  <a:pt x="2661573" y="849832"/>
                </a:lnTo>
                <a:lnTo>
                  <a:pt x="0" y="8498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Freeform 9"/>
          <p:cNvSpPr/>
          <p:nvPr/>
        </p:nvSpPr>
        <p:spPr>
          <a:xfrm>
            <a:off x="1728817" y="8543468"/>
            <a:ext cx="2899646" cy="925848"/>
          </a:xfrm>
          <a:custGeom>
            <a:avLst/>
            <a:gdLst/>
            <a:ahLst/>
            <a:cxnLst/>
            <a:rect l="l" t="t" r="r" b="b"/>
            <a:pathLst>
              <a:path w="2899646" h="925848">
                <a:moveTo>
                  <a:pt x="0" y="0"/>
                </a:moveTo>
                <a:lnTo>
                  <a:pt x="2899646" y="0"/>
                </a:lnTo>
                <a:lnTo>
                  <a:pt x="2899646" y="925849"/>
                </a:lnTo>
                <a:lnTo>
                  <a:pt x="0" y="92584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0" name="Group 10"/>
          <p:cNvGrpSpPr/>
          <p:nvPr/>
        </p:nvGrpSpPr>
        <p:grpSpPr>
          <a:xfrm>
            <a:off x="2883366" y="260436"/>
            <a:ext cx="12521268" cy="1536527"/>
            <a:chOff x="0" y="0"/>
            <a:chExt cx="3867578" cy="474604"/>
          </a:xfrm>
        </p:grpSpPr>
        <p:sp>
          <p:nvSpPr>
            <p:cNvPr id="11" name="Freeform 11"/>
            <p:cNvSpPr/>
            <p:nvPr/>
          </p:nvSpPr>
          <p:spPr>
            <a:xfrm>
              <a:off x="0" y="0"/>
              <a:ext cx="3867578" cy="474604"/>
            </a:xfrm>
            <a:custGeom>
              <a:avLst/>
              <a:gdLst/>
              <a:ahLst/>
              <a:cxnLst/>
              <a:rect l="l" t="t" r="r" b="b"/>
              <a:pathLst>
                <a:path w="3867578" h="474604">
                  <a:moveTo>
                    <a:pt x="0" y="0"/>
                  </a:moveTo>
                  <a:lnTo>
                    <a:pt x="3867578" y="0"/>
                  </a:lnTo>
                  <a:lnTo>
                    <a:pt x="3867578" y="474604"/>
                  </a:lnTo>
                  <a:lnTo>
                    <a:pt x="0" y="474604"/>
                  </a:lnTo>
                  <a:close/>
                </a:path>
              </a:pathLst>
            </a:custGeom>
            <a:solidFill>
              <a:srgbClr val="0F5679"/>
            </a:solidFill>
            <a:ln w="47625" cap="sq">
              <a:solidFill>
                <a:srgbClr val="FFFFFF"/>
              </a:solidFill>
              <a:prstDash val="solid"/>
              <a:miter/>
            </a:ln>
          </p:spPr>
          <p:txBody>
            <a:bodyPr/>
            <a:lstStyle/>
            <a:p>
              <a:endParaRPr lang="en-US"/>
            </a:p>
          </p:txBody>
        </p:sp>
        <p:sp>
          <p:nvSpPr>
            <p:cNvPr id="12" name="TextBox 12"/>
            <p:cNvSpPr txBox="1"/>
            <p:nvPr/>
          </p:nvSpPr>
          <p:spPr>
            <a:xfrm>
              <a:off x="0" y="-38100"/>
              <a:ext cx="3867578" cy="512704"/>
            </a:xfrm>
            <a:prstGeom prst="rect">
              <a:avLst/>
            </a:prstGeom>
          </p:spPr>
          <p:txBody>
            <a:bodyPr lIns="50800" tIns="50800" rIns="50800" bIns="50800" rtlCol="0" anchor="ctr"/>
            <a:lstStyle/>
            <a:p>
              <a:pPr marL="0" lvl="0" indent="0" algn="ctr">
                <a:lnSpc>
                  <a:spcPts val="3384"/>
                </a:lnSpc>
              </a:pPr>
              <a:endParaRPr/>
            </a:p>
          </p:txBody>
        </p:sp>
      </p:grpSp>
      <p:sp>
        <p:nvSpPr>
          <p:cNvPr id="13" name="Freeform 13"/>
          <p:cNvSpPr/>
          <p:nvPr/>
        </p:nvSpPr>
        <p:spPr>
          <a:xfrm>
            <a:off x="1271834" y="2187315"/>
            <a:ext cx="15243762" cy="2725791"/>
          </a:xfrm>
          <a:custGeom>
            <a:avLst/>
            <a:gdLst/>
            <a:ahLst/>
            <a:cxnLst/>
            <a:rect l="l" t="t" r="r" b="b"/>
            <a:pathLst>
              <a:path w="15243762" h="2725791">
                <a:moveTo>
                  <a:pt x="0" y="0"/>
                </a:moveTo>
                <a:lnTo>
                  <a:pt x="15243762" y="0"/>
                </a:lnTo>
                <a:lnTo>
                  <a:pt x="15243762" y="2725791"/>
                </a:lnTo>
                <a:lnTo>
                  <a:pt x="0" y="2725791"/>
                </a:lnTo>
                <a:lnTo>
                  <a:pt x="0" y="0"/>
                </a:lnTo>
                <a:close/>
              </a:path>
            </a:pathLst>
          </a:custGeom>
          <a:blipFill>
            <a:blip r:embed="rId5"/>
            <a:stretch>
              <a:fillRect/>
            </a:stretch>
          </a:blipFill>
        </p:spPr>
        <p:txBody>
          <a:bodyPr/>
          <a:lstStyle/>
          <a:p>
            <a:endParaRPr lang="en-US"/>
          </a:p>
        </p:txBody>
      </p:sp>
      <p:grpSp>
        <p:nvGrpSpPr>
          <p:cNvPr id="14" name="Group 14"/>
          <p:cNvGrpSpPr/>
          <p:nvPr/>
        </p:nvGrpSpPr>
        <p:grpSpPr>
          <a:xfrm>
            <a:off x="346786" y="6166534"/>
            <a:ext cx="7817349" cy="2303731"/>
            <a:chOff x="0" y="0"/>
            <a:chExt cx="2058890" cy="606744"/>
          </a:xfrm>
        </p:grpSpPr>
        <p:sp>
          <p:nvSpPr>
            <p:cNvPr id="15" name="Freeform 15"/>
            <p:cNvSpPr/>
            <p:nvPr/>
          </p:nvSpPr>
          <p:spPr>
            <a:xfrm>
              <a:off x="0" y="0"/>
              <a:ext cx="2058890" cy="606744"/>
            </a:xfrm>
            <a:custGeom>
              <a:avLst/>
              <a:gdLst/>
              <a:ahLst/>
              <a:cxnLst/>
              <a:rect l="l" t="t" r="r" b="b"/>
              <a:pathLst>
                <a:path w="2058890" h="606744">
                  <a:moveTo>
                    <a:pt x="0" y="0"/>
                  </a:moveTo>
                  <a:lnTo>
                    <a:pt x="2058890" y="0"/>
                  </a:lnTo>
                  <a:lnTo>
                    <a:pt x="2058890" y="606744"/>
                  </a:lnTo>
                  <a:lnTo>
                    <a:pt x="0" y="606744"/>
                  </a:lnTo>
                  <a:close/>
                </a:path>
              </a:pathLst>
            </a:custGeom>
            <a:solidFill>
              <a:srgbClr val="FEFEFF"/>
            </a:solidFill>
            <a:ln w="38100" cap="sq">
              <a:solidFill>
                <a:srgbClr val="000000"/>
              </a:solidFill>
              <a:prstDash val="solid"/>
              <a:miter/>
            </a:ln>
          </p:spPr>
          <p:txBody>
            <a:bodyPr/>
            <a:lstStyle/>
            <a:p>
              <a:endParaRPr lang="en-US"/>
            </a:p>
          </p:txBody>
        </p:sp>
        <p:sp>
          <p:nvSpPr>
            <p:cNvPr id="16" name="TextBox 16"/>
            <p:cNvSpPr txBox="1"/>
            <p:nvPr/>
          </p:nvSpPr>
          <p:spPr>
            <a:xfrm>
              <a:off x="0" y="-38100"/>
              <a:ext cx="2058890" cy="644844"/>
            </a:xfrm>
            <a:prstGeom prst="rect">
              <a:avLst/>
            </a:prstGeom>
          </p:spPr>
          <p:txBody>
            <a:bodyPr lIns="50800" tIns="50800" rIns="50800" bIns="50800" rtlCol="0" anchor="ctr"/>
            <a:lstStyle/>
            <a:p>
              <a:pPr algn="ctr">
                <a:lnSpc>
                  <a:spcPts val="3384"/>
                </a:lnSpc>
              </a:pPr>
              <a:endParaRPr/>
            </a:p>
          </p:txBody>
        </p:sp>
      </p:grpSp>
      <p:sp>
        <p:nvSpPr>
          <p:cNvPr id="17" name="TextBox 17"/>
          <p:cNvSpPr txBox="1"/>
          <p:nvPr/>
        </p:nvSpPr>
        <p:spPr>
          <a:xfrm>
            <a:off x="3686175" y="669607"/>
            <a:ext cx="10915650" cy="710534"/>
          </a:xfrm>
          <a:prstGeom prst="rect">
            <a:avLst/>
          </a:prstGeom>
        </p:spPr>
        <p:txBody>
          <a:bodyPr lIns="0" tIns="0" rIns="0" bIns="0" rtlCol="0" anchor="t">
            <a:spAutoFit/>
          </a:bodyPr>
          <a:lstStyle/>
          <a:p>
            <a:pPr marL="0" lvl="0" indent="0" algn="ctr">
              <a:lnSpc>
                <a:spcPts val="5604"/>
              </a:lnSpc>
              <a:spcBef>
                <a:spcPct val="0"/>
              </a:spcBef>
            </a:pPr>
            <a:r>
              <a:rPr lang="en-US" sz="4670" u="none" strike="noStrike">
                <a:solidFill>
                  <a:srgbClr val="FFFFFF"/>
                </a:solidFill>
                <a:latin typeface="Montserrat"/>
                <a:ea typeface="Montserrat"/>
                <a:cs typeface="Montserrat"/>
                <a:sym typeface="Montserrat"/>
              </a:rPr>
              <a:t>INDEX, EXPLAIN VÀ PHÂN QUYỀN</a:t>
            </a:r>
          </a:p>
        </p:txBody>
      </p:sp>
      <p:sp>
        <p:nvSpPr>
          <p:cNvPr id="18" name="TextBox 18"/>
          <p:cNvSpPr txBox="1"/>
          <p:nvPr/>
        </p:nvSpPr>
        <p:spPr>
          <a:xfrm>
            <a:off x="771354" y="6943226"/>
            <a:ext cx="7248525" cy="1092835"/>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idx_dsa_server_revoked_device: hỗ trợ truy vấn active access theo server.</a:t>
            </a:r>
          </a:p>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idx_device_type_registered_staff: hỗ trợ lọc thiết bị theo loại và ngày đăng ký.</a:t>
            </a:r>
          </a:p>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EXPLAIN kiểm tra possible_keys, key, rows và Extra để xác nhận index được sử dụng và tối ưu hiệu năng truy vấn.</a:t>
            </a:r>
          </a:p>
        </p:txBody>
      </p:sp>
      <p:sp>
        <p:nvSpPr>
          <p:cNvPr id="19" name="TextBox 19"/>
          <p:cNvSpPr txBox="1"/>
          <p:nvPr/>
        </p:nvSpPr>
        <p:spPr>
          <a:xfrm>
            <a:off x="9191625" y="6204243"/>
            <a:ext cx="7248525" cy="1092835"/>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Role reporter: chỉ có quyền SELECT trên các view và bảng dữ liệu.</a:t>
            </a:r>
          </a:p>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Role operator: được cấp quyền thao tác giới hạn trên bảng và view vận hành.</a:t>
            </a:r>
          </a:p>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Áp dụng nguyên tắc least privilege – mỗi role chỉ được cấp đúng quyền cần thiết.</a:t>
            </a:r>
          </a:p>
        </p:txBody>
      </p:sp>
      <p:sp>
        <p:nvSpPr>
          <p:cNvPr id="20" name="TextBox 20"/>
          <p:cNvSpPr txBox="1"/>
          <p:nvPr/>
        </p:nvSpPr>
        <p:spPr>
          <a:xfrm>
            <a:off x="809454" y="6313501"/>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Index &amp; EXPLAIN</a:t>
            </a:r>
          </a:p>
        </p:txBody>
      </p:sp>
      <p:sp>
        <p:nvSpPr>
          <p:cNvPr id="21" name="TextBox 21"/>
          <p:cNvSpPr txBox="1"/>
          <p:nvPr/>
        </p:nvSpPr>
        <p:spPr>
          <a:xfrm>
            <a:off x="9144000" y="5637677"/>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Phân quyền người dùng</a:t>
            </a:r>
          </a:p>
        </p:txBody>
      </p:sp>
      <p:grpSp>
        <p:nvGrpSpPr>
          <p:cNvPr id="22" name="Group 22"/>
          <p:cNvGrpSpPr/>
          <p:nvPr/>
        </p:nvGrpSpPr>
        <p:grpSpPr>
          <a:xfrm>
            <a:off x="8893715" y="7951459"/>
            <a:ext cx="7817349" cy="1990602"/>
            <a:chOff x="0" y="0"/>
            <a:chExt cx="2058890" cy="524274"/>
          </a:xfrm>
        </p:grpSpPr>
        <p:sp>
          <p:nvSpPr>
            <p:cNvPr id="23" name="Freeform 23"/>
            <p:cNvSpPr/>
            <p:nvPr/>
          </p:nvSpPr>
          <p:spPr>
            <a:xfrm>
              <a:off x="0" y="0"/>
              <a:ext cx="2058890" cy="524274"/>
            </a:xfrm>
            <a:custGeom>
              <a:avLst/>
              <a:gdLst/>
              <a:ahLst/>
              <a:cxnLst/>
              <a:rect l="l" t="t" r="r" b="b"/>
              <a:pathLst>
                <a:path w="2058890" h="524274">
                  <a:moveTo>
                    <a:pt x="0" y="0"/>
                  </a:moveTo>
                  <a:lnTo>
                    <a:pt x="2058890" y="0"/>
                  </a:lnTo>
                  <a:lnTo>
                    <a:pt x="2058890" y="524274"/>
                  </a:lnTo>
                  <a:lnTo>
                    <a:pt x="0" y="524274"/>
                  </a:lnTo>
                  <a:close/>
                </a:path>
              </a:pathLst>
            </a:custGeom>
            <a:solidFill>
              <a:srgbClr val="FEFEFF"/>
            </a:solidFill>
            <a:ln w="38100" cap="sq">
              <a:solidFill>
                <a:srgbClr val="000000"/>
              </a:solidFill>
              <a:prstDash val="solid"/>
              <a:miter/>
            </a:ln>
          </p:spPr>
          <p:txBody>
            <a:bodyPr/>
            <a:lstStyle/>
            <a:p>
              <a:endParaRPr lang="en-US"/>
            </a:p>
          </p:txBody>
        </p:sp>
        <p:sp>
          <p:nvSpPr>
            <p:cNvPr id="24" name="TextBox 24"/>
            <p:cNvSpPr txBox="1"/>
            <p:nvPr/>
          </p:nvSpPr>
          <p:spPr>
            <a:xfrm>
              <a:off x="0" y="-38100"/>
              <a:ext cx="2058890" cy="562374"/>
            </a:xfrm>
            <a:prstGeom prst="rect">
              <a:avLst/>
            </a:prstGeom>
          </p:spPr>
          <p:txBody>
            <a:bodyPr lIns="50800" tIns="50800" rIns="50800" bIns="50800" rtlCol="0" anchor="ctr"/>
            <a:lstStyle/>
            <a:p>
              <a:pPr algn="ctr">
                <a:lnSpc>
                  <a:spcPts val="3384"/>
                </a:lnSpc>
              </a:pPr>
              <a:endParaRPr/>
            </a:p>
          </p:txBody>
        </p:sp>
      </p:grpSp>
      <p:sp>
        <p:nvSpPr>
          <p:cNvPr id="25" name="TextBox 25"/>
          <p:cNvSpPr txBox="1"/>
          <p:nvPr/>
        </p:nvSpPr>
        <p:spPr>
          <a:xfrm>
            <a:off x="9233647" y="8781880"/>
            <a:ext cx="7248525" cy="816610"/>
          </a:xfrm>
          <a:prstGeom prst="rect">
            <a:avLst/>
          </a:prstGeom>
        </p:spPr>
        <p:txBody>
          <a:bodyPr lIns="0" tIns="0" rIns="0" bIns="0" rtlCol="0" anchor="t">
            <a:spAutoFit/>
          </a:bodyPr>
          <a:lstStyle/>
          <a:p>
            <a:pPr marL="0" lvl="0" indent="0" algn="just">
              <a:lnSpc>
                <a:spcPts val="2239"/>
              </a:lnSpc>
              <a:spcBef>
                <a:spcPct val="0"/>
              </a:spcBef>
            </a:pPr>
            <a:r>
              <a:rPr lang="en-US" sz="1599" u="none" strike="noStrike">
                <a:solidFill>
                  <a:srgbClr val="1B2436"/>
                </a:solidFill>
                <a:latin typeface="Open Sans"/>
                <a:ea typeface="Open Sans"/>
                <a:cs typeface="Open Sans"/>
                <a:sym typeface="Open Sans"/>
              </a:rPr>
              <a:t>Chèn ảnh kết quả EXPLAIN (possible_keys, key, rows, Extra) và SHOW GRANTS cho từng role (reporter, operator) từ MySQL Workbench vào khung này để minh họa phân tích tối ưu và phân quyền thực tế.</a:t>
            </a:r>
          </a:p>
        </p:txBody>
      </p:sp>
      <p:sp>
        <p:nvSpPr>
          <p:cNvPr id="26" name="TextBox 26"/>
          <p:cNvSpPr txBox="1"/>
          <p:nvPr/>
        </p:nvSpPr>
        <p:spPr>
          <a:xfrm>
            <a:off x="9191625" y="8156698"/>
            <a:ext cx="7172325" cy="442740"/>
          </a:xfrm>
          <a:prstGeom prst="rect">
            <a:avLst/>
          </a:prstGeom>
        </p:spPr>
        <p:txBody>
          <a:bodyPr lIns="0" tIns="0" rIns="0" bIns="0" rtlCol="0" anchor="t">
            <a:spAutoFit/>
          </a:bodyPr>
          <a:lstStyle/>
          <a:p>
            <a:pPr marL="0" lvl="0" indent="0" algn="l">
              <a:lnSpc>
                <a:spcPts val="3637"/>
              </a:lnSpc>
              <a:spcBef>
                <a:spcPct val="0"/>
              </a:spcBef>
            </a:pPr>
            <a:r>
              <a:rPr lang="en-US" sz="2820" u="none" strike="noStrike">
                <a:solidFill>
                  <a:srgbClr val="1B2436"/>
                </a:solidFill>
                <a:latin typeface="Montserrat"/>
                <a:ea typeface="Montserrat"/>
                <a:cs typeface="Montserrat"/>
                <a:sym typeface="Montserrat"/>
              </a:rPr>
              <a:t>Khung minh họa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4982836" y="-4136575"/>
            <a:ext cx="20108441" cy="11573824"/>
          </a:xfrm>
          <a:custGeom>
            <a:avLst/>
            <a:gdLst/>
            <a:ahLst/>
            <a:cxnLst/>
            <a:rect l="l" t="t" r="r" b="b"/>
            <a:pathLst>
              <a:path w="20108441" h="11573824">
                <a:moveTo>
                  <a:pt x="0" y="0"/>
                </a:moveTo>
                <a:lnTo>
                  <a:pt x="20108440" y="0"/>
                </a:lnTo>
                <a:lnTo>
                  <a:pt x="20108440" y="11573824"/>
                </a:lnTo>
                <a:lnTo>
                  <a:pt x="0" y="11573824"/>
                </a:lnTo>
                <a:lnTo>
                  <a:pt x="0" y="0"/>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4" name="Freeform 4"/>
          <p:cNvSpPr/>
          <p:nvPr/>
        </p:nvSpPr>
        <p:spPr>
          <a:xfrm flipH="1" flipV="1">
            <a:off x="4291193" y="3141555"/>
            <a:ext cx="20108441" cy="11573824"/>
          </a:xfrm>
          <a:custGeom>
            <a:avLst/>
            <a:gdLst/>
            <a:ahLst/>
            <a:cxnLst/>
            <a:rect l="l" t="t" r="r" b="b"/>
            <a:pathLst>
              <a:path w="20108441" h="11573824">
                <a:moveTo>
                  <a:pt x="20108440" y="11573824"/>
                </a:moveTo>
                <a:lnTo>
                  <a:pt x="0" y="11573824"/>
                </a:lnTo>
                <a:lnTo>
                  <a:pt x="0" y="0"/>
                </a:lnTo>
                <a:lnTo>
                  <a:pt x="20108440" y="0"/>
                </a:lnTo>
                <a:lnTo>
                  <a:pt x="20108440" y="11573824"/>
                </a:lnTo>
                <a:close/>
              </a:path>
            </a:pathLst>
          </a:custGeom>
          <a:blipFill>
            <a:blip>
              <a:extLst>
                <a:ext uri="{96DAC541-7B7A-43D3-8B79-37D633B846F1}">
                  <asvg:svgBlip xmlns:asvg="http://schemas.microsoft.com/office/drawing/2016/SVG/main" r:embed="rId3"/>
                </a:ext>
              </a:extLst>
            </a:blip>
            <a:stretch>
              <a:fillRect t="-43118"/>
            </a:stretch>
          </a:blipFill>
        </p:spPr>
        <p:txBody>
          <a:bodyPr/>
          <a:lstStyle/>
          <a:p>
            <a:endParaRPr lang="en-US"/>
          </a:p>
        </p:txBody>
      </p:sp>
      <p:sp>
        <p:nvSpPr>
          <p:cNvPr id="5" name="Freeform 5"/>
          <p:cNvSpPr/>
          <p:nvPr/>
        </p:nvSpPr>
        <p:spPr>
          <a:xfrm>
            <a:off x="7429963" y="1251778"/>
            <a:ext cx="1276835" cy="919322"/>
          </a:xfrm>
          <a:custGeom>
            <a:avLst/>
            <a:gdLst/>
            <a:ahLst/>
            <a:cxnLst/>
            <a:rect l="l" t="t" r="r" b="b"/>
            <a:pathLst>
              <a:path w="1276835" h="919322">
                <a:moveTo>
                  <a:pt x="0" y="0"/>
                </a:moveTo>
                <a:lnTo>
                  <a:pt x="1276835" y="0"/>
                </a:lnTo>
                <a:lnTo>
                  <a:pt x="1276835" y="919321"/>
                </a:lnTo>
                <a:lnTo>
                  <a:pt x="0" y="9193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3715729" y="-424916"/>
            <a:ext cx="3543571" cy="1131451"/>
          </a:xfrm>
          <a:custGeom>
            <a:avLst/>
            <a:gdLst/>
            <a:ahLst/>
            <a:cxnLst/>
            <a:rect l="l" t="t" r="r" b="b"/>
            <a:pathLst>
              <a:path w="3543571" h="1131451">
                <a:moveTo>
                  <a:pt x="0" y="0"/>
                </a:moveTo>
                <a:lnTo>
                  <a:pt x="3543571" y="0"/>
                </a:lnTo>
                <a:lnTo>
                  <a:pt x="3543571" y="1131451"/>
                </a:lnTo>
                <a:lnTo>
                  <a:pt x="0" y="113145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698320" y="8676151"/>
            <a:ext cx="2899646" cy="925848"/>
          </a:xfrm>
          <a:custGeom>
            <a:avLst/>
            <a:gdLst/>
            <a:ahLst/>
            <a:cxnLst/>
            <a:rect l="l" t="t" r="r" b="b"/>
            <a:pathLst>
              <a:path w="2899646" h="925848">
                <a:moveTo>
                  <a:pt x="0" y="0"/>
                </a:moveTo>
                <a:lnTo>
                  <a:pt x="2899646" y="0"/>
                </a:lnTo>
                <a:lnTo>
                  <a:pt x="2899646" y="925848"/>
                </a:lnTo>
                <a:lnTo>
                  <a:pt x="0" y="92584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3811686" y="2714024"/>
            <a:ext cx="10074078" cy="1552556"/>
          </a:xfrm>
          <a:prstGeom prst="rect">
            <a:avLst/>
          </a:prstGeom>
        </p:spPr>
        <p:txBody>
          <a:bodyPr lIns="0" tIns="0" rIns="0" bIns="0" rtlCol="0" anchor="t">
            <a:spAutoFit/>
          </a:bodyPr>
          <a:lstStyle/>
          <a:p>
            <a:pPr marL="0" lvl="0" indent="0" algn="ctr">
              <a:lnSpc>
                <a:spcPts val="12229"/>
              </a:lnSpc>
              <a:spcBef>
                <a:spcPct val="0"/>
              </a:spcBef>
            </a:pPr>
            <a:r>
              <a:rPr lang="en-US" sz="10190">
                <a:solidFill>
                  <a:srgbClr val="0F5679"/>
                </a:solidFill>
                <a:latin typeface="Montserrat"/>
                <a:ea typeface="Montserrat"/>
                <a:cs typeface="Montserrat"/>
                <a:sym typeface="Montserrat"/>
              </a:rPr>
              <a:t> KẾT LUẬN</a:t>
            </a:r>
          </a:p>
        </p:txBody>
      </p:sp>
      <p:sp>
        <p:nvSpPr>
          <p:cNvPr id="9" name="TextBox 9"/>
          <p:cNvSpPr txBox="1"/>
          <p:nvPr/>
        </p:nvSpPr>
        <p:spPr>
          <a:xfrm>
            <a:off x="4767432" y="4952032"/>
            <a:ext cx="8753136" cy="1868694"/>
          </a:xfrm>
          <a:prstGeom prst="rect">
            <a:avLst/>
          </a:prstGeom>
        </p:spPr>
        <p:txBody>
          <a:bodyPr lIns="0" tIns="0" rIns="0" bIns="0" rtlCol="0" anchor="t">
            <a:spAutoFit/>
          </a:bodyPr>
          <a:lstStyle/>
          <a:p>
            <a:pPr marL="0" lvl="0" indent="0" algn="l">
              <a:lnSpc>
                <a:spcPts val="2519"/>
              </a:lnSpc>
              <a:spcBef>
                <a:spcPct val="0"/>
              </a:spcBef>
            </a:pPr>
            <a:r>
              <a:rPr lang="en-US" sz="1799" b="1" u="none" strike="noStrike">
                <a:solidFill>
                  <a:srgbClr val="1B2436"/>
                </a:solidFill>
                <a:latin typeface="Open Sans Bold"/>
                <a:ea typeface="Open Sans Bold"/>
                <a:cs typeface="Open Sans Bold"/>
                <a:sym typeface="Open Sans Bold"/>
              </a:rPr>
              <a:t>✔ Hoàn thiện thiết kế CSDL từ ERD đến schema vận hành đầy đủ.</a:t>
            </a:r>
          </a:p>
          <a:p>
            <a:pPr marL="0" lvl="0" indent="0" algn="l">
              <a:lnSpc>
                <a:spcPts val="2519"/>
              </a:lnSpc>
              <a:spcBef>
                <a:spcPct val="0"/>
              </a:spcBef>
            </a:pPr>
            <a:r>
              <a:rPr lang="en-US" sz="1799" b="1" u="none" strike="noStrike">
                <a:solidFill>
                  <a:srgbClr val="1B2436"/>
                </a:solidFill>
                <a:latin typeface="Open Sans Bold"/>
                <a:ea typeface="Open Sans Bold"/>
                <a:cs typeface="Open Sans Bold"/>
                <a:sym typeface="Open Sans Bold"/>
              </a:rPr>
              <a:t>✔ Hệ thống tích hợp dữ liệu mẫu, query, view, routine, trigger/event, index và phân quyền.</a:t>
            </a:r>
          </a:p>
          <a:p>
            <a:pPr marL="0" lvl="0" indent="0" algn="l">
              <a:lnSpc>
                <a:spcPts val="2519"/>
              </a:lnSpc>
              <a:spcBef>
                <a:spcPct val="0"/>
              </a:spcBef>
            </a:pPr>
            <a:r>
              <a:rPr lang="en-US" sz="1799" b="1" u="none" strike="noStrike">
                <a:solidFill>
                  <a:srgbClr val="1B2436"/>
                </a:solidFill>
                <a:latin typeface="Open Sans Bold"/>
                <a:ea typeface="Open Sans Bold"/>
                <a:cs typeface="Open Sans Bold"/>
                <a:sym typeface="Open Sans Bold"/>
              </a:rPr>
              <a:t>✔ Ràng buộc nghiệp vụ kiểm thử đầy đủ qua positive &amp; negative tests.</a:t>
            </a:r>
          </a:p>
          <a:p>
            <a:pPr marL="0" lvl="0" indent="0" algn="l">
              <a:lnSpc>
                <a:spcPts val="2519"/>
              </a:lnSpc>
              <a:spcBef>
                <a:spcPct val="0"/>
              </a:spcBef>
            </a:pPr>
            <a:r>
              <a:rPr lang="en-US" sz="1799" b="1" u="none" strike="noStrike">
                <a:solidFill>
                  <a:srgbClr val="1B2436"/>
                </a:solidFill>
                <a:latin typeface="Open Sans Bold"/>
                <a:ea typeface="Open Sans Bold"/>
                <a:cs typeface="Open Sans Bold"/>
                <a:sym typeface="Open Sans Bold"/>
              </a:rPr>
              <a:t>✔ Backup/restore mô tả cho môi trường MySQL local. Có thể mở rộng cho quản lý truy cập thực tế.</a:t>
            </a:r>
          </a:p>
        </p:txBody>
      </p:sp>
      <p:sp>
        <p:nvSpPr>
          <p:cNvPr id="10" name="TextBox 10"/>
          <p:cNvSpPr txBox="1"/>
          <p:nvPr/>
        </p:nvSpPr>
        <p:spPr>
          <a:xfrm>
            <a:off x="6107584" y="7826517"/>
            <a:ext cx="5198428" cy="707644"/>
          </a:xfrm>
          <a:prstGeom prst="rect">
            <a:avLst/>
          </a:prstGeom>
        </p:spPr>
        <p:txBody>
          <a:bodyPr lIns="0" tIns="0" rIns="0" bIns="0" rtlCol="0" anchor="t">
            <a:spAutoFit/>
          </a:bodyPr>
          <a:lstStyle/>
          <a:p>
            <a:pPr marL="0" lvl="0" indent="0" algn="ctr">
              <a:lnSpc>
                <a:spcPts val="1945"/>
              </a:lnSpc>
              <a:spcBef>
                <a:spcPct val="0"/>
              </a:spcBef>
            </a:pPr>
            <a:r>
              <a:rPr lang="en-US" sz="1389" b="1" u="none" strike="noStrike" spc="134">
                <a:solidFill>
                  <a:srgbClr val="1B2436"/>
                </a:solidFill>
                <a:latin typeface="Open Sans Bold"/>
                <a:ea typeface="Open Sans Bold"/>
                <a:cs typeface="Open Sans Bold"/>
                <a:sym typeface="Open Sans Bold"/>
              </a:rPr>
              <a:t>Nhóm 6  </a:t>
            </a:r>
          </a:p>
          <a:p>
            <a:pPr marL="0" lvl="0" indent="0" algn="ctr">
              <a:lnSpc>
                <a:spcPts val="1945"/>
              </a:lnSpc>
              <a:spcBef>
                <a:spcPct val="0"/>
              </a:spcBef>
            </a:pPr>
            <a:r>
              <a:rPr lang="en-US" sz="1389" b="1" u="none" strike="noStrike" spc="134">
                <a:solidFill>
                  <a:srgbClr val="1B2436"/>
                </a:solidFill>
                <a:latin typeface="Open Sans Bold"/>
                <a:ea typeface="Open Sans Bold"/>
                <a:cs typeface="Open Sans Bold"/>
                <a:sym typeface="Open Sans Bold"/>
              </a:rPr>
              <a:t>Cơ sở dữ liệu - ISV201604 </a:t>
            </a:r>
          </a:p>
          <a:p>
            <a:pPr marL="0" lvl="0" indent="0" algn="ctr">
              <a:lnSpc>
                <a:spcPts val="1945"/>
              </a:lnSpc>
              <a:spcBef>
                <a:spcPct val="0"/>
              </a:spcBef>
            </a:pPr>
            <a:r>
              <a:rPr lang="en-US" sz="1389" b="1" u="none" strike="noStrike" spc="134">
                <a:solidFill>
                  <a:srgbClr val="1B2436"/>
                </a:solidFill>
                <a:latin typeface="Open Sans Bold"/>
                <a:ea typeface="Open Sans Bold"/>
                <a:cs typeface="Open Sans Bold"/>
                <a:sym typeface="Open Sans Bold"/>
              </a:rPr>
              <a:t>Năm học 2025-2026</a:t>
            </a:r>
          </a:p>
        </p:txBody>
      </p:sp>
      <p:sp>
        <p:nvSpPr>
          <p:cNvPr id="11" name="TextBox 11"/>
          <p:cNvSpPr txBox="1"/>
          <p:nvPr/>
        </p:nvSpPr>
        <p:spPr>
          <a:xfrm>
            <a:off x="8848725" y="1333500"/>
            <a:ext cx="2009775" cy="541147"/>
          </a:xfrm>
          <a:prstGeom prst="rect">
            <a:avLst/>
          </a:prstGeom>
        </p:spPr>
        <p:txBody>
          <a:bodyPr lIns="0" tIns="0" rIns="0" bIns="0" rtlCol="0" anchor="t">
            <a:spAutoFit/>
          </a:bodyPr>
          <a:lstStyle/>
          <a:p>
            <a:pPr marL="0" lvl="0" indent="0" algn="just">
              <a:lnSpc>
                <a:spcPts val="2197"/>
              </a:lnSpc>
              <a:spcBef>
                <a:spcPct val="0"/>
              </a:spcBef>
            </a:pPr>
            <a:r>
              <a:rPr lang="en-US" sz="1569" u="none" strike="noStrike" spc="241">
                <a:solidFill>
                  <a:srgbClr val="0F5679"/>
                </a:solidFill>
                <a:latin typeface="Montserrat"/>
                <a:ea typeface="Montserrat"/>
                <a:cs typeface="Montserrat"/>
                <a:sym typeface="Montserrat"/>
              </a:rPr>
              <a:t>MEDLINK</a:t>
            </a:r>
          </a:p>
          <a:p>
            <a:pPr marL="0" lvl="0" indent="0" algn="just">
              <a:lnSpc>
                <a:spcPts val="2197"/>
              </a:lnSpc>
              <a:spcBef>
                <a:spcPct val="0"/>
              </a:spcBef>
            </a:pPr>
            <a:r>
              <a:rPr lang="en-US" sz="1569" u="none" strike="noStrike" spc="241">
                <a:solidFill>
                  <a:srgbClr val="0F5679"/>
                </a:solidFill>
                <a:latin typeface="Montserrat"/>
                <a:ea typeface="Montserrat"/>
                <a:cs typeface="Montserrat"/>
                <a:sym typeface="Montserrat"/>
              </a:rPr>
              <a:t>HOSPITAL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1771</Words>
  <Application>Microsoft Office PowerPoint</Application>
  <PresentationFormat>Custom</PresentationFormat>
  <Paragraphs>119</Paragraphs>
  <Slides>12</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Open Sans</vt:lpstr>
      <vt:lpstr>Calibri</vt:lpstr>
      <vt:lpstr>Open Sans Bold</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Topic 8 MedLink Device Access</dc:title>
  <cp:lastModifiedBy>NGUYỄN KIM HIỆP NGHĨA</cp:lastModifiedBy>
  <cp:revision>5</cp:revision>
  <dcterms:created xsi:type="dcterms:W3CDTF">2006-08-16T00:00:00Z</dcterms:created>
  <dcterms:modified xsi:type="dcterms:W3CDTF">2026-07-05T09:33:32Z</dcterms:modified>
  <dc:identifier>DAHOZXqwtdo</dc:identifier>
</cp:coreProperties>
</file>